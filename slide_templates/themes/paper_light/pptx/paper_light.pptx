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비중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예시 A</c:v>
                </c:pt>
                <c:pt idx="1">
                  <c:v>예시 B</c:v>
                </c:pt>
                <c:pt idx="2">
                  <c:v>예시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80</c:v>
                </c:pt>
                <c:pt idx="2">
                  <c:v>45</c:v>
                </c:pt>
              </c:numCache>
            </c:numRef>
          </c:val>
        </c:ser>
        <c:dLbls>
          <c:numFmt formatCode="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AF9"/>
            </a:gs>
            <a:gs pos="100000">
              <a:srgbClr val="F8FAFC"/>
            </a:gs>
          </a:gsLst>
          <a:lin scaled="0" ang="129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cover-paper-light__back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over-paper-light__accen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90550"/>
            <a:ext cx="152400" cy="5676900"/>
          </a:xfrm>
          <a:prstGeom prst="rect">
            <a:avLst/>
          </a:prstGeom>
        </p:spPr>
      </p:pic>
      <p:sp>
        <p:nvSpPr>
          <p:cNvPr id="4" name="cover-paper-light__accent-2"/>
          <p:cNvSpPr/>
          <p:nvPr/>
        </p:nvSpPr>
        <p:spPr>
          <a:xfrm>
            <a:off x="10839450" y="5638800"/>
            <a:ext cx="209550" cy="2095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ver-paper-light__panel"/>
          <p:cNvSpPr/>
          <p:nvPr/>
        </p:nvSpPr>
        <p:spPr>
          <a:xfrm>
            <a:off x="914400" y="438150"/>
            <a:ext cx="10725150" cy="59817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itle-main"/>
          <p:cNvSpPr txBox="1"/>
          <p:nvPr/>
        </p:nvSpPr>
        <p:spPr>
          <a:xfrm>
            <a:off x="1314450" y="2553742"/>
            <a:ext cx="7143750" cy="5546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824"/>
              </a:lnSpc>
            </a:pPr>
            <a:r>
              <a:rPr sz="5200" b="0" i="0" u="none">
                <a:solidFill>
                  <a:srgbClr val="1C1917"/>
                </a:solidFill>
                <a:latin typeface="Pretendard"/>
              </a:rPr>
              <a:t>프로젝트 제목이 여기에 들어갑니다</a:t>
            </a:r>
          </a:p>
        </p:txBody>
      </p:sp>
      <p:sp>
        <p:nvSpPr>
          <p:cNvPr id="7" name="subtitle-main"/>
          <p:cNvSpPr txBox="1"/>
          <p:nvPr/>
        </p:nvSpPr>
        <p:spPr>
          <a:xfrm>
            <a:off x="1314450" y="3298924"/>
            <a:ext cx="6515100" cy="2985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sz="1900" b="0" i="0" u="none">
                <a:solidFill>
                  <a:srgbClr val="57534E"/>
                </a:solidFill>
                <a:latin typeface="Pretendard"/>
              </a:rPr>
              <a:t>부제목 또는 한 줄 요약 설명</a:t>
            </a:r>
          </a:p>
        </p:txBody>
      </p:sp>
      <p:sp>
        <p:nvSpPr>
          <p:cNvPr id="8" name="author-main"/>
          <p:cNvSpPr txBox="1"/>
          <p:nvPr/>
        </p:nvSpPr>
        <p:spPr>
          <a:xfrm>
            <a:off x="1314450" y="3921323"/>
            <a:ext cx="7143750" cy="382786"/>
          </a:xfrm>
          <a:prstGeom prst="rect">
            <a:avLst/>
          </a:prstGeom>
          <a:noFill/>
        </p:spPr>
        <p:txBody>
          <a:bodyPr wrap="square" lIns="190500" rIns="190500" tIns="95250" bIns="9525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 i="0" u="none">
                <a:solidFill>
                  <a:srgbClr val="44403C"/>
                </a:solidFill>
                <a:latin typeface="Pretendard"/>
              </a:rPr>
              <a:t>작성자명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main"/>
          <p:cNvSpPr txBox="1"/>
          <p:nvPr/>
        </p:nvSpPr>
        <p:spPr>
          <a:xfrm>
            <a:off x="533400" y="419100"/>
            <a:ext cx="496937" cy="590550"/>
          </a:xfrm>
          <a:prstGeom prst="rect">
            <a:avLst/>
          </a:prstGeom>
          <a:noFill/>
        </p:spPr>
        <p:txBody>
          <a:bodyPr wrap="square" lIns="0" rIns="0" tIns="0" bIns="13335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sz="3000" b="0" i="0" u="none">
                <a:solidFill>
                  <a:srgbClr val="1C1917"/>
                </a:solidFill>
                <a:latin typeface="Pretendard"/>
              </a:rPr>
              <a:t>기술 스택</a:t>
            </a:r>
          </a:p>
        </p:txBody>
      </p:sp>
      <p:pic>
        <p:nvPicPr>
          <p:cNvPr id="3" name="slide-skills__skill-grou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76350"/>
            <a:ext cx="11125200" cy="3824288"/>
          </a:xfrm>
          <a:prstGeom prst="rect">
            <a:avLst/>
          </a:prstGeom>
        </p:spPr>
      </p:pic>
      <p:sp>
        <p:nvSpPr>
          <p:cNvPr id="4" name="slide-skills__shape"/>
          <p:cNvSpPr/>
          <p:nvPr/>
        </p:nvSpPr>
        <p:spPr>
          <a:xfrm>
            <a:off x="542925" y="1285875"/>
            <a:ext cx="11106150" cy="380523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lide-skills__skill-chip"/>
          <p:cNvSpPr/>
          <p:nvPr/>
        </p:nvSpPr>
        <p:spPr>
          <a:xfrm>
            <a:off x="790575" y="1833562"/>
            <a:ext cx="615107" cy="3067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React</a:t>
            </a:r>
          </a:p>
        </p:txBody>
      </p:sp>
      <p:sp>
        <p:nvSpPr>
          <p:cNvPr id="6" name="slide-skills__shape-2"/>
          <p:cNvSpPr/>
          <p:nvPr/>
        </p:nvSpPr>
        <p:spPr>
          <a:xfrm>
            <a:off x="790575" y="1833562"/>
            <a:ext cx="615107" cy="3067050"/>
          </a:xfrm>
          <a:prstGeom prst="roundRect">
            <a:avLst/>
          </a:prstGeom>
          <a:solidFill>
            <a:srgbClr val="FAFAF9"/>
          </a:solidFill>
          <a:ln w="9525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ide-skills__skill-chip-2"/>
          <p:cNvSpPr/>
          <p:nvPr/>
        </p:nvSpPr>
        <p:spPr>
          <a:xfrm>
            <a:off x="1481882" y="1833562"/>
            <a:ext cx="896689" cy="3067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TypeScript</a:t>
            </a:r>
          </a:p>
        </p:txBody>
      </p:sp>
      <p:sp>
        <p:nvSpPr>
          <p:cNvPr id="8" name="slide-skills__shape-3"/>
          <p:cNvSpPr/>
          <p:nvPr/>
        </p:nvSpPr>
        <p:spPr>
          <a:xfrm>
            <a:off x="1481882" y="1833562"/>
            <a:ext cx="896689" cy="3067050"/>
          </a:xfrm>
          <a:prstGeom prst="roundRect">
            <a:avLst/>
          </a:prstGeom>
          <a:solidFill>
            <a:srgbClr val="FAFAF9"/>
          </a:solidFill>
          <a:ln w="9525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lide-skills__skill-chip-3"/>
          <p:cNvSpPr/>
          <p:nvPr/>
        </p:nvSpPr>
        <p:spPr>
          <a:xfrm>
            <a:off x="2454771" y="1833562"/>
            <a:ext cx="674340" cy="3067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Next.js</a:t>
            </a:r>
          </a:p>
        </p:txBody>
      </p:sp>
      <p:sp>
        <p:nvSpPr>
          <p:cNvPr id="10" name="slide-skills__shape-4"/>
          <p:cNvSpPr/>
          <p:nvPr/>
        </p:nvSpPr>
        <p:spPr>
          <a:xfrm>
            <a:off x="2454771" y="1833562"/>
            <a:ext cx="674340" cy="3067050"/>
          </a:xfrm>
          <a:prstGeom prst="roundRect">
            <a:avLst/>
          </a:prstGeom>
          <a:solidFill>
            <a:srgbClr val="FAFAF9"/>
          </a:solidFill>
          <a:ln w="9525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lide-skills__skill-group-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291138"/>
            <a:ext cx="5467350" cy="1109662"/>
          </a:xfrm>
          <a:prstGeom prst="rect">
            <a:avLst/>
          </a:prstGeom>
        </p:spPr>
      </p:pic>
      <p:sp>
        <p:nvSpPr>
          <p:cNvPr id="12" name="slide-skills__shape-5"/>
          <p:cNvSpPr/>
          <p:nvPr/>
        </p:nvSpPr>
        <p:spPr>
          <a:xfrm>
            <a:off x="542925" y="5300662"/>
            <a:ext cx="5448300" cy="10906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lide-skills__skill-chip-4"/>
          <p:cNvSpPr/>
          <p:nvPr/>
        </p:nvSpPr>
        <p:spPr>
          <a:xfrm>
            <a:off x="752475" y="5848350"/>
            <a:ext cx="681930" cy="3524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Python</a:t>
            </a:r>
          </a:p>
        </p:txBody>
      </p:sp>
      <p:sp>
        <p:nvSpPr>
          <p:cNvPr id="14" name="slide-skills__shape-6"/>
          <p:cNvSpPr/>
          <p:nvPr/>
        </p:nvSpPr>
        <p:spPr>
          <a:xfrm>
            <a:off x="752475" y="5848350"/>
            <a:ext cx="681930" cy="352425"/>
          </a:xfrm>
          <a:prstGeom prst="roundRect">
            <a:avLst/>
          </a:prstGeom>
          <a:solidFill>
            <a:srgbClr val="FAFAF9"/>
          </a:solidFill>
          <a:ln w="9525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lide-skills__skill-chip-5"/>
          <p:cNvSpPr/>
          <p:nvPr/>
        </p:nvSpPr>
        <p:spPr>
          <a:xfrm>
            <a:off x="1510605" y="5848350"/>
            <a:ext cx="741015" cy="3524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FastAPI</a:t>
            </a:r>
          </a:p>
        </p:txBody>
      </p:sp>
      <p:sp>
        <p:nvSpPr>
          <p:cNvPr id="16" name="slide-skills__shape-7"/>
          <p:cNvSpPr/>
          <p:nvPr/>
        </p:nvSpPr>
        <p:spPr>
          <a:xfrm>
            <a:off x="1510605" y="5848350"/>
            <a:ext cx="741015" cy="352425"/>
          </a:xfrm>
          <a:prstGeom prst="roundRect">
            <a:avLst/>
          </a:prstGeom>
          <a:solidFill>
            <a:srgbClr val="FAFAF9"/>
          </a:solidFill>
          <a:ln w="9525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lide-skills__skill-chip-6"/>
          <p:cNvSpPr/>
          <p:nvPr/>
        </p:nvSpPr>
        <p:spPr>
          <a:xfrm>
            <a:off x="2327821" y="5848350"/>
            <a:ext cx="718840" cy="3524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Node.js</a:t>
            </a:r>
          </a:p>
        </p:txBody>
      </p:sp>
      <p:sp>
        <p:nvSpPr>
          <p:cNvPr id="18" name="slide-skills__shape-8"/>
          <p:cNvSpPr/>
          <p:nvPr/>
        </p:nvSpPr>
        <p:spPr>
          <a:xfrm>
            <a:off x="2327821" y="5848350"/>
            <a:ext cx="718840" cy="352425"/>
          </a:xfrm>
          <a:prstGeom prst="roundRect">
            <a:avLst/>
          </a:prstGeom>
          <a:solidFill>
            <a:srgbClr val="FAFAF9"/>
          </a:solidFill>
          <a:ln w="9525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slide-skills__skill-group-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5291138"/>
            <a:ext cx="5467350" cy="1109662"/>
          </a:xfrm>
          <a:prstGeom prst="rect">
            <a:avLst/>
          </a:prstGeom>
        </p:spPr>
      </p:pic>
      <p:sp>
        <p:nvSpPr>
          <p:cNvPr id="20" name="slide-skills__shape-9"/>
          <p:cNvSpPr/>
          <p:nvPr/>
        </p:nvSpPr>
        <p:spPr>
          <a:xfrm>
            <a:off x="6200775" y="5300662"/>
            <a:ext cx="5448300" cy="10906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lide-skills__skill-chip-7"/>
          <p:cNvSpPr/>
          <p:nvPr/>
        </p:nvSpPr>
        <p:spPr>
          <a:xfrm>
            <a:off x="6410325" y="5848350"/>
            <a:ext cx="689223" cy="3524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Docker</a:t>
            </a:r>
          </a:p>
        </p:txBody>
      </p:sp>
      <p:sp>
        <p:nvSpPr>
          <p:cNvPr id="22" name="slide-skills__shape-10"/>
          <p:cNvSpPr/>
          <p:nvPr/>
        </p:nvSpPr>
        <p:spPr>
          <a:xfrm>
            <a:off x="6410325" y="5848350"/>
            <a:ext cx="689223" cy="352425"/>
          </a:xfrm>
          <a:prstGeom prst="roundRect">
            <a:avLst/>
          </a:prstGeom>
          <a:solidFill>
            <a:srgbClr val="FAFAF9"/>
          </a:solidFill>
          <a:ln w="9525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lide-skills__skill-chip-8"/>
          <p:cNvSpPr/>
          <p:nvPr/>
        </p:nvSpPr>
        <p:spPr>
          <a:xfrm>
            <a:off x="7175748" y="5848350"/>
            <a:ext cx="565547" cy="3524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AWS</a:t>
            </a:r>
          </a:p>
        </p:txBody>
      </p:sp>
      <p:sp>
        <p:nvSpPr>
          <p:cNvPr id="24" name="slide-skills__shape-11"/>
          <p:cNvSpPr/>
          <p:nvPr/>
        </p:nvSpPr>
        <p:spPr>
          <a:xfrm>
            <a:off x="7175748" y="5848350"/>
            <a:ext cx="565547" cy="352425"/>
          </a:xfrm>
          <a:prstGeom prst="roundRect">
            <a:avLst/>
          </a:prstGeom>
          <a:solidFill>
            <a:srgbClr val="FAFAF9"/>
          </a:solidFill>
          <a:ln w="9525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lide-skills__skill-chip-9"/>
          <p:cNvSpPr/>
          <p:nvPr/>
        </p:nvSpPr>
        <p:spPr>
          <a:xfrm>
            <a:off x="7817495" y="5848350"/>
            <a:ext cx="1148804" cy="3524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GitHub Actions</a:t>
            </a:r>
          </a:p>
        </p:txBody>
      </p:sp>
      <p:sp>
        <p:nvSpPr>
          <p:cNvPr id="26" name="slide-skills__shape-12"/>
          <p:cNvSpPr/>
          <p:nvPr/>
        </p:nvSpPr>
        <p:spPr>
          <a:xfrm>
            <a:off x="7817495" y="5848350"/>
            <a:ext cx="1148804" cy="352425"/>
          </a:xfrm>
          <a:prstGeom prst="roundRect">
            <a:avLst/>
          </a:prstGeom>
          <a:solidFill>
            <a:srgbClr val="FAFAF9"/>
          </a:solidFill>
          <a:ln w="9525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lide-skills__group-title"/>
          <p:cNvSpPr txBox="1"/>
          <p:nvPr/>
        </p:nvSpPr>
        <p:spPr>
          <a:xfrm>
            <a:off x="790575" y="1495425"/>
            <a:ext cx="10648950" cy="1857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0" i="0" u="none">
                <a:solidFill>
                  <a:srgbClr val="2563EB"/>
                </a:solidFill>
                <a:latin typeface="Pretendard"/>
              </a:rPr>
              <a:t>Frontend</a:t>
            </a:r>
          </a:p>
        </p:txBody>
      </p:sp>
      <p:sp>
        <p:nvSpPr>
          <p:cNvPr id="28" name="slide-skills__group"/>
          <p:cNvSpPr/>
          <p:nvPr/>
        </p:nvSpPr>
        <p:spPr>
          <a:xfrm>
            <a:off x="790575" y="1833562"/>
            <a:ext cx="10648950" cy="3067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React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TypeScript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Next.js</a:t>
            </a:r>
          </a:p>
        </p:txBody>
      </p:sp>
      <p:sp>
        <p:nvSpPr>
          <p:cNvPr id="29" name="slide-skills__chip-text"/>
          <p:cNvSpPr txBox="1"/>
          <p:nvPr/>
        </p:nvSpPr>
        <p:spPr>
          <a:xfrm>
            <a:off x="790575" y="1833562"/>
            <a:ext cx="615107" cy="3067050"/>
          </a:xfrm>
          <a:prstGeom prst="rect">
            <a:avLst/>
          </a:prstGeom>
          <a:noFill/>
        </p:spPr>
        <p:txBody>
          <a:bodyPr wrap="square" lIns="133350" rIns="133350" tIns="76200" bIns="7620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 u="none">
                <a:solidFill>
                  <a:srgbClr val="44403C"/>
                </a:solidFill>
                <a:latin typeface="Pretendard"/>
              </a:rPr>
              <a:t>React</a:t>
            </a:r>
          </a:p>
        </p:txBody>
      </p:sp>
      <p:sp>
        <p:nvSpPr>
          <p:cNvPr id="30" name="slide-skills__chip-text-2"/>
          <p:cNvSpPr txBox="1"/>
          <p:nvPr/>
        </p:nvSpPr>
        <p:spPr>
          <a:xfrm>
            <a:off x="1481882" y="1833562"/>
            <a:ext cx="896689" cy="3067050"/>
          </a:xfrm>
          <a:prstGeom prst="rect">
            <a:avLst/>
          </a:prstGeom>
          <a:noFill/>
        </p:spPr>
        <p:txBody>
          <a:bodyPr wrap="square" lIns="133350" rIns="133350" tIns="76200" bIns="7620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 u="none">
                <a:solidFill>
                  <a:srgbClr val="44403C"/>
                </a:solidFill>
                <a:latin typeface="Pretendard"/>
              </a:rPr>
              <a:t>TypeScript</a:t>
            </a:r>
          </a:p>
        </p:txBody>
      </p:sp>
      <p:sp>
        <p:nvSpPr>
          <p:cNvPr id="31" name="slide-skills__chip-text-3"/>
          <p:cNvSpPr txBox="1"/>
          <p:nvPr/>
        </p:nvSpPr>
        <p:spPr>
          <a:xfrm>
            <a:off x="2454771" y="1833562"/>
            <a:ext cx="674340" cy="3067050"/>
          </a:xfrm>
          <a:prstGeom prst="rect">
            <a:avLst/>
          </a:prstGeom>
          <a:noFill/>
        </p:spPr>
        <p:txBody>
          <a:bodyPr wrap="square" lIns="133350" rIns="133350" tIns="76200" bIns="7620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 u="none">
                <a:solidFill>
                  <a:srgbClr val="44403C"/>
                </a:solidFill>
                <a:latin typeface="Pretendard"/>
              </a:rPr>
              <a:t>Next.js</a:t>
            </a:r>
          </a:p>
        </p:txBody>
      </p:sp>
      <p:sp>
        <p:nvSpPr>
          <p:cNvPr id="32" name="slide-skills__group-title-2"/>
          <p:cNvSpPr txBox="1"/>
          <p:nvPr/>
        </p:nvSpPr>
        <p:spPr>
          <a:xfrm>
            <a:off x="752475" y="5510212"/>
            <a:ext cx="5029200" cy="1857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0" i="0" u="none">
                <a:solidFill>
                  <a:srgbClr val="2563EB"/>
                </a:solidFill>
                <a:latin typeface="Pretendard"/>
              </a:rPr>
              <a:t>Backend</a:t>
            </a:r>
          </a:p>
        </p:txBody>
      </p:sp>
      <p:sp>
        <p:nvSpPr>
          <p:cNvPr id="33" name="slide-skills__group-2"/>
          <p:cNvSpPr/>
          <p:nvPr/>
        </p:nvSpPr>
        <p:spPr>
          <a:xfrm>
            <a:off x="752475" y="5848350"/>
            <a:ext cx="5029200" cy="3524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Python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FastAPI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Node.js</a:t>
            </a:r>
          </a:p>
        </p:txBody>
      </p:sp>
      <p:sp>
        <p:nvSpPr>
          <p:cNvPr id="34" name="slide-skills__chip-text-4"/>
          <p:cNvSpPr txBox="1"/>
          <p:nvPr/>
        </p:nvSpPr>
        <p:spPr>
          <a:xfrm>
            <a:off x="752475" y="5848350"/>
            <a:ext cx="681930" cy="352425"/>
          </a:xfrm>
          <a:prstGeom prst="rect">
            <a:avLst/>
          </a:prstGeom>
          <a:noFill/>
        </p:spPr>
        <p:txBody>
          <a:bodyPr wrap="square" lIns="133350" rIns="133350" tIns="76200" bIns="7620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 u="none">
                <a:solidFill>
                  <a:srgbClr val="44403C"/>
                </a:solidFill>
                <a:latin typeface="Pretendard"/>
              </a:rPr>
              <a:t>Python</a:t>
            </a:r>
          </a:p>
        </p:txBody>
      </p:sp>
      <p:sp>
        <p:nvSpPr>
          <p:cNvPr id="35" name="slide-skills__chip-text-5"/>
          <p:cNvSpPr txBox="1"/>
          <p:nvPr/>
        </p:nvSpPr>
        <p:spPr>
          <a:xfrm>
            <a:off x="1510605" y="5848350"/>
            <a:ext cx="741015" cy="352425"/>
          </a:xfrm>
          <a:prstGeom prst="rect">
            <a:avLst/>
          </a:prstGeom>
          <a:noFill/>
        </p:spPr>
        <p:txBody>
          <a:bodyPr wrap="square" lIns="133350" rIns="133350" tIns="76200" bIns="7620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 u="none">
                <a:solidFill>
                  <a:srgbClr val="44403C"/>
                </a:solidFill>
                <a:latin typeface="Pretendard"/>
              </a:rPr>
              <a:t>FastAPI</a:t>
            </a:r>
          </a:p>
        </p:txBody>
      </p:sp>
      <p:sp>
        <p:nvSpPr>
          <p:cNvPr id="36" name="slide-skills__chip-text-6"/>
          <p:cNvSpPr txBox="1"/>
          <p:nvPr/>
        </p:nvSpPr>
        <p:spPr>
          <a:xfrm>
            <a:off x="2327821" y="5848350"/>
            <a:ext cx="718840" cy="352425"/>
          </a:xfrm>
          <a:prstGeom prst="rect">
            <a:avLst/>
          </a:prstGeom>
          <a:noFill/>
        </p:spPr>
        <p:txBody>
          <a:bodyPr wrap="square" lIns="133350" rIns="133350" tIns="76200" bIns="7620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 u="none">
                <a:solidFill>
                  <a:srgbClr val="44403C"/>
                </a:solidFill>
                <a:latin typeface="Pretendard"/>
              </a:rPr>
              <a:t>Node.js</a:t>
            </a:r>
          </a:p>
        </p:txBody>
      </p:sp>
      <p:sp>
        <p:nvSpPr>
          <p:cNvPr id="37" name="slide-skills__group-title-3"/>
          <p:cNvSpPr txBox="1"/>
          <p:nvPr/>
        </p:nvSpPr>
        <p:spPr>
          <a:xfrm>
            <a:off x="6410325" y="5510212"/>
            <a:ext cx="5029200" cy="1857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0" i="0" u="none">
                <a:solidFill>
                  <a:srgbClr val="2563EB"/>
                </a:solidFill>
                <a:latin typeface="Pretendard"/>
              </a:rPr>
              <a:t>DevOps</a:t>
            </a:r>
          </a:p>
        </p:txBody>
      </p:sp>
      <p:sp>
        <p:nvSpPr>
          <p:cNvPr id="38" name="slide-skills__group-3"/>
          <p:cNvSpPr/>
          <p:nvPr/>
        </p:nvSpPr>
        <p:spPr>
          <a:xfrm>
            <a:off x="6410325" y="5848350"/>
            <a:ext cx="5029200" cy="3524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Docker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AWS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GitHub Actions</a:t>
            </a:r>
          </a:p>
        </p:txBody>
      </p:sp>
      <p:sp>
        <p:nvSpPr>
          <p:cNvPr id="39" name="slide-skills__chip-text-7"/>
          <p:cNvSpPr txBox="1"/>
          <p:nvPr/>
        </p:nvSpPr>
        <p:spPr>
          <a:xfrm>
            <a:off x="6410325" y="5848350"/>
            <a:ext cx="689223" cy="352425"/>
          </a:xfrm>
          <a:prstGeom prst="rect">
            <a:avLst/>
          </a:prstGeom>
          <a:noFill/>
        </p:spPr>
        <p:txBody>
          <a:bodyPr wrap="square" lIns="133350" rIns="133350" tIns="76200" bIns="7620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 u="none">
                <a:solidFill>
                  <a:srgbClr val="44403C"/>
                </a:solidFill>
                <a:latin typeface="Pretendard"/>
              </a:rPr>
              <a:t>Docker</a:t>
            </a:r>
          </a:p>
        </p:txBody>
      </p:sp>
      <p:sp>
        <p:nvSpPr>
          <p:cNvPr id="40" name="slide-skills__chip-text-8"/>
          <p:cNvSpPr txBox="1"/>
          <p:nvPr/>
        </p:nvSpPr>
        <p:spPr>
          <a:xfrm>
            <a:off x="7175748" y="5848350"/>
            <a:ext cx="565547" cy="352425"/>
          </a:xfrm>
          <a:prstGeom prst="rect">
            <a:avLst/>
          </a:prstGeom>
          <a:noFill/>
        </p:spPr>
        <p:txBody>
          <a:bodyPr wrap="square" lIns="133350" rIns="133350" tIns="76200" bIns="7620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 u="none">
                <a:solidFill>
                  <a:srgbClr val="44403C"/>
                </a:solidFill>
                <a:latin typeface="Pretendard"/>
              </a:rPr>
              <a:t>AWS</a:t>
            </a:r>
          </a:p>
        </p:txBody>
      </p:sp>
      <p:sp>
        <p:nvSpPr>
          <p:cNvPr id="41" name="slide-skills__chip-text-9"/>
          <p:cNvSpPr txBox="1"/>
          <p:nvPr/>
        </p:nvSpPr>
        <p:spPr>
          <a:xfrm>
            <a:off x="7817495" y="5848350"/>
            <a:ext cx="1148804" cy="352425"/>
          </a:xfrm>
          <a:prstGeom prst="rect">
            <a:avLst/>
          </a:prstGeom>
          <a:noFill/>
        </p:spPr>
        <p:txBody>
          <a:bodyPr wrap="square" lIns="133350" rIns="133350" tIns="76200" bIns="7620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 u="none">
                <a:solidFill>
                  <a:srgbClr val="44403C"/>
                </a:solidFill>
                <a:latin typeface="Pretendard"/>
              </a:rPr>
              <a:t>GitHub 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main"/>
          <p:cNvSpPr txBox="1"/>
          <p:nvPr/>
        </p:nvSpPr>
        <p:spPr>
          <a:xfrm>
            <a:off x="533400" y="419100"/>
            <a:ext cx="658564" cy="523875"/>
          </a:xfrm>
          <a:prstGeom prst="rect">
            <a:avLst/>
          </a:prstGeom>
          <a:noFill/>
        </p:spPr>
        <p:txBody>
          <a:bodyPr wrap="square" lIns="0" rIns="0" tIns="0" bIns="9525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0" i="0" u="none">
                <a:solidFill>
                  <a:srgbClr val="1C1917"/>
                </a:solidFill>
                <a:latin typeface="Pretendard"/>
              </a:rPr>
              <a:t>경력 타임라인</a:t>
            </a:r>
          </a:p>
        </p:txBody>
      </p:sp>
      <p:pic>
        <p:nvPicPr>
          <p:cNvPr id="3" name="slide-timeline__track-lin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1285875"/>
            <a:ext cx="28575" cy="5038725"/>
          </a:xfrm>
          <a:prstGeom prst="rect">
            <a:avLst/>
          </a:prstGeom>
        </p:spPr>
      </p:pic>
      <p:sp>
        <p:nvSpPr>
          <p:cNvPr id="4" name="slide-timeline__timeline-item"/>
          <p:cNvSpPr/>
          <p:nvPr/>
        </p:nvSpPr>
        <p:spPr>
          <a:xfrm>
            <a:off x="800100" y="1209675"/>
            <a:ext cx="10858500" cy="135046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6200" rIns="0" tIns="152400" bIns="15240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2024.01 ~ 현재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시니어 개발자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제품 전략과 구현 사이를 연결하는 개발을 주도했습니다.</a:t>
            </a:r>
          </a:p>
        </p:txBody>
      </p:sp>
      <p:pic>
        <p:nvPicPr>
          <p:cNvPr id="5" name="slide-timeline__do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1419225"/>
            <a:ext cx="133350" cy="133350"/>
          </a:xfrm>
          <a:prstGeom prst="rect">
            <a:avLst/>
          </a:prstGeom>
        </p:spPr>
      </p:pic>
      <p:sp>
        <p:nvSpPr>
          <p:cNvPr id="6" name="slide-timeline__group"/>
          <p:cNvSpPr/>
          <p:nvPr/>
        </p:nvSpPr>
        <p:spPr>
          <a:xfrm>
            <a:off x="876300" y="1362075"/>
            <a:ext cx="10782300" cy="104566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90500" rIns="190500" tIns="171450" bIns="17145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2024.01 ~ 현재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시니어 개발자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제품 전략과 구현 사이를 연결하는 개발을 주도했습니다.</a:t>
            </a:r>
          </a:p>
        </p:txBody>
      </p:sp>
      <p:pic>
        <p:nvPicPr>
          <p:cNvPr id="7" name="slide-timeline__shap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1362075"/>
            <a:ext cx="10782300" cy="1045666"/>
          </a:xfrm>
          <a:prstGeom prst="rect">
            <a:avLst/>
          </a:prstGeom>
        </p:spPr>
      </p:pic>
      <p:sp>
        <p:nvSpPr>
          <p:cNvPr id="8" name="slide-timeline__timeline-item-2"/>
          <p:cNvSpPr/>
          <p:nvPr/>
        </p:nvSpPr>
        <p:spPr>
          <a:xfrm>
            <a:off x="800100" y="2560141"/>
            <a:ext cx="10858500" cy="135046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6200" rIns="0" tIns="152400" bIns="15240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2022.03 ~ 2023.12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백엔드 개발자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API 설계, 배포 파이프라인, 운영 개선을 담당했습니다.</a:t>
            </a:r>
          </a:p>
        </p:txBody>
      </p:sp>
      <p:pic>
        <p:nvPicPr>
          <p:cNvPr id="9" name="slide-timeline__dot-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2769691"/>
            <a:ext cx="133350" cy="133350"/>
          </a:xfrm>
          <a:prstGeom prst="rect">
            <a:avLst/>
          </a:prstGeom>
        </p:spPr>
      </p:pic>
      <p:sp>
        <p:nvSpPr>
          <p:cNvPr id="10" name="slide-timeline__group-2"/>
          <p:cNvSpPr/>
          <p:nvPr/>
        </p:nvSpPr>
        <p:spPr>
          <a:xfrm>
            <a:off x="876300" y="2712541"/>
            <a:ext cx="10782300" cy="104566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90500" rIns="190500" tIns="171450" bIns="17145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2022.03 ~ 2023.12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백엔드 개발자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API 설계, 배포 파이프라인, 운영 개선을 담당했습니다.</a:t>
            </a:r>
          </a:p>
        </p:txBody>
      </p:sp>
      <p:pic>
        <p:nvPicPr>
          <p:cNvPr id="11" name="slide-timeline__shape-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712541"/>
            <a:ext cx="10782300" cy="1045666"/>
          </a:xfrm>
          <a:prstGeom prst="rect">
            <a:avLst/>
          </a:prstGeom>
        </p:spPr>
      </p:pic>
      <p:sp>
        <p:nvSpPr>
          <p:cNvPr id="12" name="slide-timeline__timeline-item-3"/>
          <p:cNvSpPr/>
          <p:nvPr/>
        </p:nvSpPr>
        <p:spPr>
          <a:xfrm>
            <a:off x="800100" y="3910608"/>
            <a:ext cx="10858500" cy="135046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6200" rIns="0" tIns="152400" bIns="15240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2021.09 ~ 2022.02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인턴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문서화와 QA, 실험성 기능 구현을 지원했습니다.</a:t>
            </a:r>
          </a:p>
        </p:txBody>
      </p:sp>
      <p:pic>
        <p:nvPicPr>
          <p:cNvPr id="13" name="slide-timeline__dot-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4120158"/>
            <a:ext cx="133350" cy="133350"/>
          </a:xfrm>
          <a:prstGeom prst="rect">
            <a:avLst/>
          </a:prstGeom>
        </p:spPr>
      </p:pic>
      <p:sp>
        <p:nvSpPr>
          <p:cNvPr id="14" name="slide-timeline__group-3"/>
          <p:cNvSpPr/>
          <p:nvPr/>
        </p:nvSpPr>
        <p:spPr>
          <a:xfrm>
            <a:off x="876300" y="4063008"/>
            <a:ext cx="10782300" cy="104566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90500" rIns="190500" tIns="171450" bIns="17145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2021.09 ~ 2022.02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인턴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문서화와 QA, 실험성 기능 구현을 지원했습니다.</a:t>
            </a:r>
          </a:p>
        </p:txBody>
      </p:sp>
      <p:pic>
        <p:nvPicPr>
          <p:cNvPr id="15" name="slide-timeline__shape-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4063008"/>
            <a:ext cx="10782300" cy="1045666"/>
          </a:xfrm>
          <a:prstGeom prst="rect">
            <a:avLst/>
          </a:prstGeom>
        </p:spPr>
      </p:pic>
      <p:sp>
        <p:nvSpPr>
          <p:cNvPr id="16" name="slide-timeline__date"/>
          <p:cNvSpPr txBox="1"/>
          <p:nvPr/>
        </p:nvSpPr>
        <p:spPr>
          <a:xfrm>
            <a:off x="1066800" y="1533525"/>
            <a:ext cx="10401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2563EB"/>
                </a:solidFill>
                <a:latin typeface="Pretendard"/>
              </a:rPr>
              <a:t>2024.01 ~ 현재</a:t>
            </a:r>
          </a:p>
        </p:txBody>
      </p:sp>
      <p:sp>
        <p:nvSpPr>
          <p:cNvPr id="17" name="slide-timeline__item-title"/>
          <p:cNvSpPr txBox="1"/>
          <p:nvPr/>
        </p:nvSpPr>
        <p:spPr>
          <a:xfrm>
            <a:off x="1066800" y="1762125"/>
            <a:ext cx="10401300" cy="2104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</a:pPr>
            <a:r>
              <a:rPr sz="1700" b="0" i="0" u="none">
                <a:solidFill>
                  <a:srgbClr val="1C1917"/>
                </a:solidFill>
                <a:latin typeface="Pretendard"/>
              </a:rPr>
              <a:t>시니어 개발자</a:t>
            </a:r>
          </a:p>
        </p:txBody>
      </p:sp>
      <p:sp>
        <p:nvSpPr>
          <p:cNvPr id="18" name="slide-timeline__item-body"/>
          <p:cNvSpPr txBox="1"/>
          <p:nvPr/>
        </p:nvSpPr>
        <p:spPr>
          <a:xfrm>
            <a:off x="1066800" y="2029718"/>
            <a:ext cx="10401300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0"/>
              </a:lnSpc>
            </a:pPr>
            <a:r>
              <a:rPr sz="1400" b="0" i="0" u="none">
                <a:solidFill>
                  <a:srgbClr val="57534E"/>
                </a:solidFill>
                <a:latin typeface="Pretendard"/>
              </a:rPr>
              <a:t>제품 전략과 구현 사이를 연결하는 개발을 주도했습니다.</a:t>
            </a:r>
          </a:p>
        </p:txBody>
      </p:sp>
      <p:sp>
        <p:nvSpPr>
          <p:cNvPr id="19" name="slide-timeline__date-2"/>
          <p:cNvSpPr txBox="1"/>
          <p:nvPr/>
        </p:nvSpPr>
        <p:spPr>
          <a:xfrm>
            <a:off x="1066800" y="2883991"/>
            <a:ext cx="10401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2563EB"/>
                </a:solidFill>
                <a:latin typeface="Pretendard"/>
              </a:rPr>
              <a:t>2022.03 ~ 2023.12</a:t>
            </a:r>
          </a:p>
        </p:txBody>
      </p:sp>
      <p:sp>
        <p:nvSpPr>
          <p:cNvPr id="20" name="slide-timeline__item-title-2"/>
          <p:cNvSpPr txBox="1"/>
          <p:nvPr/>
        </p:nvSpPr>
        <p:spPr>
          <a:xfrm>
            <a:off x="1066800" y="3112591"/>
            <a:ext cx="10401300" cy="2104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</a:pPr>
            <a:r>
              <a:rPr sz="1700" b="0" i="0" u="none">
                <a:solidFill>
                  <a:srgbClr val="1C1917"/>
                </a:solidFill>
                <a:latin typeface="Pretendard"/>
              </a:rPr>
              <a:t>백엔드 개발자</a:t>
            </a:r>
          </a:p>
        </p:txBody>
      </p:sp>
      <p:sp>
        <p:nvSpPr>
          <p:cNvPr id="21" name="slide-timeline__item-body-2"/>
          <p:cNvSpPr txBox="1"/>
          <p:nvPr/>
        </p:nvSpPr>
        <p:spPr>
          <a:xfrm>
            <a:off x="1066800" y="3380184"/>
            <a:ext cx="10401300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0"/>
              </a:lnSpc>
            </a:pPr>
            <a:r>
              <a:rPr sz="1400" b="0" i="0" u="none">
                <a:solidFill>
                  <a:srgbClr val="57534E"/>
                </a:solidFill>
                <a:latin typeface="Pretendard"/>
              </a:rPr>
              <a:t>API 설계, 배포 파이프라인, 운영 개선을 담당했습니다.</a:t>
            </a:r>
          </a:p>
        </p:txBody>
      </p:sp>
      <p:sp>
        <p:nvSpPr>
          <p:cNvPr id="22" name="slide-timeline__date-3"/>
          <p:cNvSpPr txBox="1"/>
          <p:nvPr/>
        </p:nvSpPr>
        <p:spPr>
          <a:xfrm>
            <a:off x="1066800" y="4234458"/>
            <a:ext cx="10401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2563EB"/>
                </a:solidFill>
                <a:latin typeface="Pretendard"/>
              </a:rPr>
              <a:t>2021.09 ~ 2022.02</a:t>
            </a:r>
          </a:p>
        </p:txBody>
      </p:sp>
      <p:sp>
        <p:nvSpPr>
          <p:cNvPr id="23" name="slide-timeline__item-title-3"/>
          <p:cNvSpPr txBox="1"/>
          <p:nvPr/>
        </p:nvSpPr>
        <p:spPr>
          <a:xfrm>
            <a:off x="1066800" y="4463058"/>
            <a:ext cx="10401300" cy="2104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</a:pPr>
            <a:r>
              <a:rPr sz="1700" b="0" i="0" u="none">
                <a:solidFill>
                  <a:srgbClr val="1C1917"/>
                </a:solidFill>
                <a:latin typeface="Pretendard"/>
              </a:rPr>
              <a:t>인턴</a:t>
            </a:r>
          </a:p>
        </p:txBody>
      </p:sp>
      <p:sp>
        <p:nvSpPr>
          <p:cNvPr id="24" name="slide-timeline__item-body-3"/>
          <p:cNvSpPr txBox="1"/>
          <p:nvPr/>
        </p:nvSpPr>
        <p:spPr>
          <a:xfrm>
            <a:off x="1066800" y="4730651"/>
            <a:ext cx="10401300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0"/>
              </a:lnSpc>
            </a:pPr>
            <a:r>
              <a:rPr sz="1400" b="0" i="0" u="none">
                <a:solidFill>
                  <a:srgbClr val="57534E"/>
                </a:solidFill>
                <a:latin typeface="Pretendard"/>
              </a:rPr>
              <a:t>문서화와 QA, 실험성 기능 구현을 지원했습니다.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lide-agenda__back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-main"/>
          <p:cNvSpPr txBox="1"/>
          <p:nvPr/>
        </p:nvSpPr>
        <p:spPr>
          <a:xfrm>
            <a:off x="495300" y="3226594"/>
            <a:ext cx="530721" cy="404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50"/>
              </a:lnSpc>
            </a:pPr>
            <a:r>
              <a:rPr sz="3400" b="0" i="0" u="none">
                <a:solidFill>
                  <a:srgbClr val="1C1917"/>
                </a:solidFill>
                <a:latin typeface="Pretendard"/>
              </a:rPr>
              <a:t>목차 제목</a:t>
            </a:r>
          </a:p>
        </p:txBody>
      </p:sp>
      <p:sp>
        <p:nvSpPr>
          <p:cNvPr id="4" name="slide-agenda__agenda-item"/>
          <p:cNvSpPr/>
          <p:nvPr/>
        </p:nvSpPr>
        <p:spPr>
          <a:xfrm>
            <a:off x="5166271" y="2486025"/>
            <a:ext cx="6492329" cy="5524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9550" rIns="171450" tIns="133350" bIns="13335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첫 번째 섹션</a:t>
            </a:r>
          </a:p>
        </p:txBody>
      </p:sp>
      <p:pic>
        <p:nvPicPr>
          <p:cNvPr id="5" name="agenda-item-panel-0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271" y="2486025"/>
            <a:ext cx="6492329" cy="552450"/>
          </a:xfrm>
          <a:prstGeom prst="rect">
            <a:avLst/>
          </a:prstGeom>
        </p:spPr>
      </p:pic>
      <p:sp>
        <p:nvSpPr>
          <p:cNvPr id="6" name="slide-agenda__agenda-item-2"/>
          <p:cNvSpPr/>
          <p:nvPr/>
        </p:nvSpPr>
        <p:spPr>
          <a:xfrm>
            <a:off x="5166271" y="3152775"/>
            <a:ext cx="6492329" cy="5524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9550" rIns="171450" tIns="133350" bIns="13335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두 번째 섹션</a:t>
            </a:r>
          </a:p>
        </p:txBody>
      </p:sp>
      <p:pic>
        <p:nvPicPr>
          <p:cNvPr id="7" name="agenda-item-panel-0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271" y="3152775"/>
            <a:ext cx="6492329" cy="552450"/>
          </a:xfrm>
          <a:prstGeom prst="rect">
            <a:avLst/>
          </a:prstGeom>
        </p:spPr>
      </p:pic>
      <p:sp>
        <p:nvSpPr>
          <p:cNvPr id="8" name="slide-agenda__agenda-item-3"/>
          <p:cNvSpPr/>
          <p:nvPr/>
        </p:nvSpPr>
        <p:spPr>
          <a:xfrm>
            <a:off x="5166271" y="3819525"/>
            <a:ext cx="6492329" cy="5524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9550" rIns="171450" tIns="133350" bIns="13335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세 번째 섹션</a:t>
            </a:r>
          </a:p>
        </p:txBody>
      </p:sp>
      <p:pic>
        <p:nvPicPr>
          <p:cNvPr id="9" name="agenda-item-panel-0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271" y="3819525"/>
            <a:ext cx="6492329" cy="552450"/>
          </a:xfrm>
          <a:prstGeom prst="rect">
            <a:avLst/>
          </a:prstGeom>
        </p:spPr>
      </p:pic>
      <p:sp>
        <p:nvSpPr>
          <p:cNvPr id="10" name="agenda-item-marker-01"/>
          <p:cNvSpPr/>
          <p:nvPr/>
        </p:nvSpPr>
        <p:spPr>
          <a:xfrm>
            <a:off x="5375821" y="2619375"/>
            <a:ext cx="38100" cy="2857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da-item-text-01"/>
          <p:cNvSpPr txBox="1"/>
          <p:nvPr/>
        </p:nvSpPr>
        <p:spPr>
          <a:xfrm>
            <a:off x="5566321" y="2640806"/>
            <a:ext cx="385762" cy="242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sz="1700" b="0" i="0" u="none">
                <a:solidFill>
                  <a:srgbClr val="44403C"/>
                </a:solidFill>
                <a:latin typeface="Pretendard"/>
              </a:rPr>
              <a:t>첫 번째 섹션</a:t>
            </a:r>
          </a:p>
        </p:txBody>
      </p:sp>
      <p:sp>
        <p:nvSpPr>
          <p:cNvPr id="12" name="agenda-item-marker-02"/>
          <p:cNvSpPr/>
          <p:nvPr/>
        </p:nvSpPr>
        <p:spPr>
          <a:xfrm>
            <a:off x="5375821" y="3286125"/>
            <a:ext cx="38100" cy="2857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genda-item-text-02"/>
          <p:cNvSpPr txBox="1"/>
          <p:nvPr/>
        </p:nvSpPr>
        <p:spPr>
          <a:xfrm>
            <a:off x="5566321" y="3307556"/>
            <a:ext cx="385762" cy="242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sz="1700" b="0" i="0" u="none">
                <a:solidFill>
                  <a:srgbClr val="44403C"/>
                </a:solidFill>
                <a:latin typeface="Pretendard"/>
              </a:rPr>
              <a:t>두 번째 섹션</a:t>
            </a:r>
          </a:p>
        </p:txBody>
      </p:sp>
      <p:sp>
        <p:nvSpPr>
          <p:cNvPr id="14" name="agenda-item-marker-03"/>
          <p:cNvSpPr/>
          <p:nvPr/>
        </p:nvSpPr>
        <p:spPr>
          <a:xfrm>
            <a:off x="5375821" y="3952875"/>
            <a:ext cx="38100" cy="2857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genda-item-text-03"/>
          <p:cNvSpPr txBox="1"/>
          <p:nvPr/>
        </p:nvSpPr>
        <p:spPr>
          <a:xfrm>
            <a:off x="5566321" y="3974306"/>
            <a:ext cx="385762" cy="242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sz="1700" b="0" i="0" u="none">
                <a:solidFill>
                  <a:srgbClr val="44403C"/>
                </a:solidFill>
                <a:latin typeface="Pretendard"/>
              </a:rPr>
              <a:t>세 번째 섹션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project_card__shape"/>
          <p:cNvSpPr/>
          <p:nvPr/>
        </p:nvSpPr>
        <p:spPr>
          <a:xfrm>
            <a:off x="495300" y="381000"/>
            <a:ext cx="11201400" cy="9477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le-main"/>
          <p:cNvSpPr txBox="1"/>
          <p:nvPr/>
        </p:nvSpPr>
        <p:spPr>
          <a:xfrm>
            <a:off x="495300" y="381000"/>
            <a:ext cx="95548" cy="1857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0" i="0" u="none">
                <a:solidFill>
                  <a:srgbClr val="2563EB"/>
                </a:solidFill>
                <a:latin typeface="Pretendard"/>
              </a:rPr>
              <a:t>역할</a:t>
            </a:r>
          </a:p>
        </p:txBody>
      </p:sp>
      <p:sp>
        <p:nvSpPr>
          <p:cNvPr id="4" name="slide-project_card__separator"/>
          <p:cNvSpPr txBox="1"/>
          <p:nvPr/>
        </p:nvSpPr>
        <p:spPr>
          <a:xfrm>
            <a:off x="667048" y="381000"/>
            <a:ext cx="36909" cy="1857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0" i="0" u="none">
                <a:solidFill>
                  <a:srgbClr val="A8A29E"/>
                </a:solidFill>
                <a:latin typeface="Pretendard"/>
              </a:rPr>
              <a:t>/</a:t>
            </a:r>
          </a:p>
        </p:txBody>
      </p:sp>
      <p:sp>
        <p:nvSpPr>
          <p:cNvPr id="5" name="period-main"/>
          <p:cNvSpPr txBox="1"/>
          <p:nvPr/>
        </p:nvSpPr>
        <p:spPr>
          <a:xfrm>
            <a:off x="780157" y="381000"/>
            <a:ext cx="95548" cy="1857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0" i="0" u="none">
                <a:solidFill>
                  <a:srgbClr val="57534E"/>
                </a:solidFill>
                <a:latin typeface="Pretendard"/>
              </a:rPr>
              <a:t>기간</a:t>
            </a:r>
          </a:p>
        </p:txBody>
      </p:sp>
      <p:sp>
        <p:nvSpPr>
          <p:cNvPr id="6" name="slide-project_card__shape-2"/>
          <p:cNvSpPr/>
          <p:nvPr/>
        </p:nvSpPr>
        <p:spPr>
          <a:xfrm>
            <a:off x="495300" y="1557338"/>
            <a:ext cx="6243638" cy="2667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lide-project_card__shape-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1838" y="1557338"/>
            <a:ext cx="4614862" cy="1685925"/>
          </a:xfrm>
          <a:prstGeom prst="rect">
            <a:avLst/>
          </a:prstGeom>
        </p:spPr>
      </p:pic>
      <p:sp>
        <p:nvSpPr>
          <p:cNvPr id="8" name="slide-project_card__tech-chip"/>
          <p:cNvSpPr/>
          <p:nvPr/>
        </p:nvSpPr>
        <p:spPr>
          <a:xfrm>
            <a:off x="7081838" y="1557338"/>
            <a:ext cx="616000" cy="2857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Python</a:t>
            </a:r>
          </a:p>
        </p:txBody>
      </p:sp>
      <p:sp>
        <p:nvSpPr>
          <p:cNvPr id="9" name="slide-project_card__shape-4"/>
          <p:cNvSpPr/>
          <p:nvPr/>
        </p:nvSpPr>
        <p:spPr>
          <a:xfrm>
            <a:off x="7081838" y="1557338"/>
            <a:ext cx="616000" cy="285750"/>
          </a:xfrm>
          <a:prstGeom prst="roundRect">
            <a:avLst/>
          </a:prstGeom>
          <a:solidFill>
            <a:srgbClr val="F5F5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lide-project_card__tech-chip-2"/>
          <p:cNvSpPr/>
          <p:nvPr/>
        </p:nvSpPr>
        <p:spPr>
          <a:xfrm>
            <a:off x="7774037" y="1557338"/>
            <a:ext cx="654248" cy="2857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FastAPI</a:t>
            </a:r>
          </a:p>
        </p:txBody>
      </p:sp>
      <p:sp>
        <p:nvSpPr>
          <p:cNvPr id="11" name="slide-project_card__shape-5"/>
          <p:cNvSpPr/>
          <p:nvPr/>
        </p:nvSpPr>
        <p:spPr>
          <a:xfrm>
            <a:off x="7774037" y="1557338"/>
            <a:ext cx="654248" cy="285750"/>
          </a:xfrm>
          <a:prstGeom prst="roundRect">
            <a:avLst/>
          </a:prstGeom>
          <a:solidFill>
            <a:srgbClr val="F5F5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lide-project_card__tech-chip-3"/>
          <p:cNvSpPr/>
          <p:nvPr/>
        </p:nvSpPr>
        <p:spPr>
          <a:xfrm>
            <a:off x="8504486" y="1557338"/>
            <a:ext cx="539948" cy="2857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React</a:t>
            </a:r>
          </a:p>
        </p:txBody>
      </p:sp>
      <p:sp>
        <p:nvSpPr>
          <p:cNvPr id="13" name="slide-project_card__shape-6"/>
          <p:cNvSpPr/>
          <p:nvPr/>
        </p:nvSpPr>
        <p:spPr>
          <a:xfrm>
            <a:off x="8504486" y="1557338"/>
            <a:ext cx="539948" cy="285750"/>
          </a:xfrm>
          <a:prstGeom prst="roundRect">
            <a:avLst/>
          </a:prstGeom>
          <a:solidFill>
            <a:srgbClr val="F5F5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lide-project_card__highlight-card"/>
          <p:cNvSpPr/>
          <p:nvPr/>
        </p:nvSpPr>
        <p:spPr>
          <a:xfrm>
            <a:off x="7081838" y="2033588"/>
            <a:ext cx="4614862" cy="3524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3350" rIns="0" tIns="76200" bIns="7620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주요 성과 1</a:t>
            </a:r>
          </a:p>
        </p:txBody>
      </p:sp>
      <p:sp>
        <p:nvSpPr>
          <p:cNvPr id="15" name="slide-project_card__shape-7"/>
          <p:cNvSpPr/>
          <p:nvPr/>
        </p:nvSpPr>
        <p:spPr>
          <a:xfrm>
            <a:off x="7081838" y="2033588"/>
            <a:ext cx="4614862" cy="352425"/>
          </a:xfrm>
          <a:prstGeom prst="roundRect">
            <a:avLst/>
          </a:prstGeom>
          <a:solidFill>
            <a:srgbClr val="FAFAF9"/>
          </a:solidFill>
          <a:ln w="285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lide-project_card__highlight-card-2"/>
          <p:cNvSpPr/>
          <p:nvPr/>
        </p:nvSpPr>
        <p:spPr>
          <a:xfrm>
            <a:off x="7081838" y="2462212"/>
            <a:ext cx="4614862" cy="3524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3350" rIns="0" tIns="76200" bIns="7620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주요 성과 2</a:t>
            </a:r>
          </a:p>
        </p:txBody>
      </p:sp>
      <p:sp>
        <p:nvSpPr>
          <p:cNvPr id="17" name="slide-project_card__shape-8"/>
          <p:cNvSpPr/>
          <p:nvPr/>
        </p:nvSpPr>
        <p:spPr>
          <a:xfrm>
            <a:off x="7081838" y="2462212"/>
            <a:ext cx="4614862" cy="352425"/>
          </a:xfrm>
          <a:prstGeom prst="roundRect">
            <a:avLst/>
          </a:prstGeom>
          <a:solidFill>
            <a:srgbClr val="FAFAF9"/>
          </a:solidFill>
          <a:ln w="285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lide-project_card__highlight-card-3"/>
          <p:cNvSpPr/>
          <p:nvPr/>
        </p:nvSpPr>
        <p:spPr>
          <a:xfrm>
            <a:off x="7081838" y="2890838"/>
            <a:ext cx="4614862" cy="3524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3350" rIns="0" tIns="76200" bIns="7620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주요 성과 3</a:t>
            </a:r>
          </a:p>
        </p:txBody>
      </p:sp>
      <p:sp>
        <p:nvSpPr>
          <p:cNvPr id="19" name="slide-project_card__shape-9"/>
          <p:cNvSpPr/>
          <p:nvPr/>
        </p:nvSpPr>
        <p:spPr>
          <a:xfrm>
            <a:off x="7081838" y="2890838"/>
            <a:ext cx="4614862" cy="352425"/>
          </a:xfrm>
          <a:prstGeom prst="roundRect">
            <a:avLst/>
          </a:prstGeom>
          <a:solidFill>
            <a:srgbClr val="FAFAF9"/>
          </a:solidFill>
          <a:ln w="285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roject-name-main"/>
          <p:cNvSpPr txBox="1"/>
          <p:nvPr/>
        </p:nvSpPr>
        <p:spPr>
          <a:xfrm>
            <a:off x="495300" y="681038"/>
            <a:ext cx="11201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000" b="0" i="0" u="none">
                <a:solidFill>
                  <a:srgbClr val="1C1917"/>
                </a:solidFill>
                <a:latin typeface="Pretendard"/>
              </a:rPr>
              <a:t>프로젝트 이름</a:t>
            </a:r>
          </a:p>
        </p:txBody>
      </p:sp>
      <p:sp>
        <p:nvSpPr>
          <p:cNvPr id="21" name="summary-main"/>
          <p:cNvSpPr txBox="1"/>
          <p:nvPr/>
        </p:nvSpPr>
        <p:spPr>
          <a:xfrm>
            <a:off x="495300" y="1557338"/>
            <a:ext cx="624363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sz="1600" b="0" i="0" u="none">
                <a:solidFill>
                  <a:srgbClr val="44403C"/>
                </a:solidFill>
                <a:latin typeface="Pretendard"/>
              </a:rPr>
              <a:t>프로젝트에 대한 간략한 설명이 들어갑니다. 무엇을 만들었고, 어떤 문제를 해결했는지 서술합니다.</a:t>
            </a:r>
          </a:p>
        </p:txBody>
      </p:sp>
      <p:sp>
        <p:nvSpPr>
          <p:cNvPr id="22" name="slide-project_card__tech-stack"/>
          <p:cNvSpPr/>
          <p:nvPr/>
        </p:nvSpPr>
        <p:spPr>
          <a:xfrm>
            <a:off x="7081838" y="1557338"/>
            <a:ext cx="4614862" cy="2857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Python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FastAPI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React</a:t>
            </a:r>
          </a:p>
        </p:txBody>
      </p:sp>
      <p:sp>
        <p:nvSpPr>
          <p:cNvPr id="23" name="slide-project_card__chip-text"/>
          <p:cNvSpPr txBox="1"/>
          <p:nvPr/>
        </p:nvSpPr>
        <p:spPr>
          <a:xfrm>
            <a:off x="7081838" y="1557338"/>
            <a:ext cx="616000" cy="285750"/>
          </a:xfrm>
          <a:prstGeom prst="rect">
            <a:avLst/>
          </a:prstGeom>
          <a:noFill/>
        </p:spPr>
        <p:txBody>
          <a:bodyPr wrap="square" lIns="114300" rIns="114300" tIns="57150" bIns="5715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C1917"/>
                </a:solidFill>
                <a:latin typeface="Pretendard"/>
              </a:rPr>
              <a:t>Python</a:t>
            </a:r>
          </a:p>
        </p:txBody>
      </p:sp>
      <p:sp>
        <p:nvSpPr>
          <p:cNvPr id="24" name="slide-project_card__chip-text-2"/>
          <p:cNvSpPr txBox="1"/>
          <p:nvPr/>
        </p:nvSpPr>
        <p:spPr>
          <a:xfrm>
            <a:off x="7774037" y="1557338"/>
            <a:ext cx="654248" cy="285750"/>
          </a:xfrm>
          <a:prstGeom prst="rect">
            <a:avLst/>
          </a:prstGeom>
          <a:noFill/>
        </p:spPr>
        <p:txBody>
          <a:bodyPr wrap="square" lIns="114300" rIns="114300" tIns="57150" bIns="5715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C1917"/>
                </a:solidFill>
                <a:latin typeface="Pretendard"/>
              </a:rPr>
              <a:t>FastAPI</a:t>
            </a:r>
          </a:p>
        </p:txBody>
      </p:sp>
      <p:sp>
        <p:nvSpPr>
          <p:cNvPr id="25" name="slide-project_card__chip-text-3"/>
          <p:cNvSpPr txBox="1"/>
          <p:nvPr/>
        </p:nvSpPr>
        <p:spPr>
          <a:xfrm>
            <a:off x="8504486" y="1557338"/>
            <a:ext cx="539948" cy="285750"/>
          </a:xfrm>
          <a:prstGeom prst="rect">
            <a:avLst/>
          </a:prstGeom>
          <a:noFill/>
        </p:spPr>
        <p:txBody>
          <a:bodyPr wrap="square" lIns="114300" rIns="114300" tIns="57150" bIns="5715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C1917"/>
                </a:solidFill>
                <a:latin typeface="Pretendard"/>
              </a:rPr>
              <a:t>React</a:t>
            </a:r>
          </a:p>
        </p:txBody>
      </p:sp>
      <p:sp>
        <p:nvSpPr>
          <p:cNvPr id="26" name="slide-project_card__highlights"/>
          <p:cNvSpPr/>
          <p:nvPr/>
        </p:nvSpPr>
        <p:spPr>
          <a:xfrm>
            <a:off x="7081838" y="2033588"/>
            <a:ext cx="4614862" cy="12096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주요 성과 1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주요 성과 2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주요 성과 3</a:t>
            </a:r>
          </a:p>
        </p:txBody>
      </p:sp>
      <p:sp>
        <p:nvSpPr>
          <p:cNvPr id="27" name="slide-project_card__highlight-text"/>
          <p:cNvSpPr txBox="1"/>
          <p:nvPr/>
        </p:nvSpPr>
        <p:spPr>
          <a:xfrm>
            <a:off x="7215188" y="2109788"/>
            <a:ext cx="448151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 u="none">
                <a:solidFill>
                  <a:srgbClr val="44403C"/>
                </a:solidFill>
                <a:latin typeface="Pretendard"/>
              </a:rPr>
              <a:t>주요 성과 1</a:t>
            </a:r>
          </a:p>
        </p:txBody>
      </p:sp>
      <p:sp>
        <p:nvSpPr>
          <p:cNvPr id="28" name="slide-project_card__highlight-text-2"/>
          <p:cNvSpPr txBox="1"/>
          <p:nvPr/>
        </p:nvSpPr>
        <p:spPr>
          <a:xfrm>
            <a:off x="7215188" y="2538412"/>
            <a:ext cx="448151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 u="none">
                <a:solidFill>
                  <a:srgbClr val="44403C"/>
                </a:solidFill>
                <a:latin typeface="Pretendard"/>
              </a:rPr>
              <a:t>주요 성과 2</a:t>
            </a:r>
          </a:p>
        </p:txBody>
      </p:sp>
      <p:sp>
        <p:nvSpPr>
          <p:cNvPr id="29" name="slide-project_card__highlight-text-3"/>
          <p:cNvSpPr txBox="1"/>
          <p:nvPr/>
        </p:nvSpPr>
        <p:spPr>
          <a:xfrm>
            <a:off x="7215188" y="2967038"/>
            <a:ext cx="448151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 u="none">
                <a:solidFill>
                  <a:srgbClr val="44403C"/>
                </a:solidFill>
                <a:latin typeface="Pretendard"/>
              </a:rPr>
              <a:t>주요 성과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AF9"/>
            </a:gs>
            <a:gs pos="100000">
              <a:srgbClr val="F5F5F4"/>
            </a:gs>
          </a:gsLst>
          <a:lin scaled="0" ang="120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-main"/>
          <p:cNvSpPr txBox="1"/>
          <p:nvPr/>
        </p:nvSpPr>
        <p:spPr>
          <a:xfrm>
            <a:off x="533400" y="457200"/>
            <a:ext cx="11125200" cy="4113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0" i="0" u="none">
                <a:solidFill>
                  <a:srgbClr val="1C1917"/>
                </a:solidFill>
                <a:latin typeface="Pretendard"/>
              </a:rPr>
              <a:t>핵심 지표</a:t>
            </a:r>
          </a:p>
        </p:txBody>
      </p:sp>
      <p:sp>
        <p:nvSpPr>
          <p:cNvPr id="3" name="subtitle-main"/>
          <p:cNvSpPr txBox="1"/>
          <p:nvPr/>
        </p:nvSpPr>
        <p:spPr>
          <a:xfrm>
            <a:off x="533400" y="944761"/>
            <a:ext cx="876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0" i="0" u="none">
                <a:solidFill>
                  <a:srgbClr val="78716C"/>
                </a:solidFill>
                <a:latin typeface="Pretendard"/>
              </a:rPr>
              <a:t>
            포트폴리오에서 추출한 수치·비교 요약
        </a:t>
            </a:r>
          </a:p>
        </p:txBody>
      </p:sp>
      <p:pic>
        <p:nvPicPr>
          <p:cNvPr id="4" name="metrics-panel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401961"/>
            <a:ext cx="11125200" cy="4673203"/>
          </a:xfrm>
          <a:prstGeom prst="rect">
            <a:avLst/>
          </a:prstGeom>
        </p:spPr>
      </p:pic>
      <p:sp>
        <p:nvSpPr>
          <p:cNvPr id="5" name="footnote-main"/>
          <p:cNvSpPr txBox="1"/>
          <p:nvPr/>
        </p:nvSpPr>
        <p:spPr>
          <a:xfrm>
            <a:off x="533400" y="6303764"/>
            <a:ext cx="11125200" cy="173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0" i="0" u="none">
                <a:solidFill>
                  <a:srgbClr val="78716C"/>
                </a:solidFill>
                <a:latin typeface="Pretendard"/>
              </a:rPr>
              <a:t>
        기준일·출처 등 짧은 주석
    </a:t>
            </a:r>
          </a:p>
        </p:txBody>
      </p:sp>
      <p:pic>
        <p:nvPicPr>
          <p:cNvPr id="6" name="table-main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401961"/>
            <a:ext cx="11125200" cy="46732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main"/>
          <p:cNvSpPr txBox="1"/>
          <p:nvPr/>
        </p:nvSpPr>
        <p:spPr>
          <a:xfrm>
            <a:off x="495300" y="419100"/>
            <a:ext cx="11201400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sz="3400" b="0" i="0" u="none">
                <a:solidFill>
                  <a:srgbClr val="1C1917"/>
                </a:solidFill>
                <a:latin typeface="Pretendard"/>
              </a:rPr>
              <a:t>비율 시각화</a:t>
            </a:r>
          </a:p>
        </p:txBody>
      </p:sp>
      <p:sp>
        <p:nvSpPr>
          <p:cNvPr id="3" name="subtitle-main"/>
          <p:cNvSpPr txBox="1"/>
          <p:nvPr/>
        </p:nvSpPr>
        <p:spPr>
          <a:xfrm>
            <a:off x="495300" y="864840"/>
            <a:ext cx="7620000" cy="2071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78716C"/>
                </a:solidFill>
                <a:latin typeface="Pretendard"/>
              </a:rPr>
              <a:t>
            항목별 상대 크기 (최댓값 기준 100%)
        </a:t>
            </a:r>
          </a:p>
        </p:txBody>
      </p:sp>
      <p:pic>
        <p:nvPicPr>
          <p:cNvPr id="4" name="bar-panel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262509"/>
            <a:ext cx="9144000" cy="4888855"/>
          </a:xfrm>
          <a:prstGeom prst="rect">
            <a:avLst/>
          </a:prstGeom>
        </p:spPr>
      </p:pic>
      <p:sp>
        <p:nvSpPr>
          <p:cNvPr id="5" name="footnote-main"/>
          <p:cNvSpPr txBox="1"/>
          <p:nvPr/>
        </p:nvSpPr>
        <p:spPr>
          <a:xfrm>
            <a:off x="495300" y="6341864"/>
            <a:ext cx="11201400" cy="173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0" i="0" u="none">
                <a:solidFill>
                  <a:srgbClr val="78716C"/>
                </a:solidFill>
                <a:latin typeface="Pretendard"/>
              </a:rPr>
              <a:t>
        기준·단위 설명
    </a:t>
            </a:r>
          </a:p>
        </p:txBody>
      </p:sp>
      <p:graphicFrame>
        <p:nvGraphicFramePr>
          <p:cNvPr id="6" name="chart-main"/>
          <p:cNvGraphicFramePr>
            <a:graphicFrameLocks noGrp="1"/>
          </p:cNvGraphicFramePr>
          <p:nvPr/>
        </p:nvGraphicFramePr>
        <p:xfrm>
          <a:off x="1524000" y="1992362"/>
          <a:ext cx="9144000" cy="3429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main"/>
          <p:cNvSpPr txBox="1"/>
          <p:nvPr/>
        </p:nvSpPr>
        <p:spPr>
          <a:xfrm>
            <a:off x="495300" y="266700"/>
            <a:ext cx="112014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2600" b="0" i="0" u="none">
                <a:solidFill>
                  <a:srgbClr val="1C1917"/>
                </a:solidFill>
                <a:latin typeface="Pretendard"/>
              </a:rPr>
              <a:t>섹션 제목</a:t>
            </a:r>
          </a:p>
        </p:txBody>
      </p:sp>
      <p:sp>
        <p:nvSpPr>
          <p:cNvPr id="3" name="tc-left-panel"/>
          <p:cNvSpPr/>
          <p:nvPr/>
        </p:nvSpPr>
        <p:spPr>
          <a:xfrm>
            <a:off x="0" y="866775"/>
            <a:ext cx="5064621" cy="5505450"/>
          </a:xfrm>
          <a:prstGeom prst="round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c-divider"/>
          <p:cNvSpPr/>
          <p:nvPr/>
        </p:nvSpPr>
        <p:spPr>
          <a:xfrm>
            <a:off x="5126534" y="866775"/>
            <a:ext cx="9525" cy="550545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c-right-panel"/>
          <p:cNvSpPr/>
          <p:nvPr/>
        </p:nvSpPr>
        <p:spPr>
          <a:xfrm>
            <a:off x="5197971" y="866775"/>
            <a:ext cx="6993880" cy="550545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note-main"/>
          <p:cNvSpPr txBox="1"/>
          <p:nvPr/>
        </p:nvSpPr>
        <p:spPr>
          <a:xfrm>
            <a:off x="495300" y="6496050"/>
            <a:ext cx="11201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78716C"/>
                </a:solidFill>
                <a:latin typeface="Pretendard"/>
              </a:rPr>
              <a:t>추가 참고 사항</a:t>
            </a:r>
          </a:p>
        </p:txBody>
      </p:sp>
      <p:sp>
        <p:nvSpPr>
          <p:cNvPr id="7" name="left-main"/>
          <p:cNvSpPr txBox="1"/>
          <p:nvPr/>
        </p:nvSpPr>
        <p:spPr>
          <a:xfrm>
            <a:off x="0" y="866775"/>
            <a:ext cx="5064621" cy="1247775"/>
          </a:xfrm>
          <a:prstGeom prst="rect">
            <a:avLst/>
          </a:prstGeom>
          <a:noFill/>
        </p:spPr>
        <p:txBody>
          <a:bodyPr wrap="square" lIns="495300" rIns="342900" tIns="304800" bIns="342900" anchor="t">
            <a:spAutoFit/>
          </a:bodyPr>
          <a:lstStyle/>
          <a:p>
            <a:pPr algn="l">
              <a:lnSpc>
                <a:spcPts val="2550"/>
              </a:lnSpc>
              <a:spcAft>
                <a:spcPts val="1200"/>
              </a:spcAft>
            </a:pPr>
            <a:r>
              <a:rPr sz="1500" b="0" i="0" u="none">
                <a:solidFill>
                  <a:srgbClr val="44403C"/>
                </a:solidFill>
                <a:latin typeface="Pretendard"/>
              </a:rPr>
              <a:t>왼쪽 칼럼은 압축 요약, 핵심 인사이트, 문제 정의를 담는 영역입니다.</a:t>
            </a:r>
          </a:p>
          <a:p>
            <a:pPr algn="l">
              <a:lnSpc>
                <a:spcPts val="2550"/>
              </a:lnSpc>
              <a:spcAft>
                <a:spcPts val="1200"/>
              </a:spcAft>
            </a:pPr>
            <a:r>
              <a:rPr sz="1500" b="0" i="0" u="none">
                <a:solidFill>
                  <a:srgbClr val="44403C"/>
                </a:solidFill>
                <a:latin typeface="Pretendard"/>
              </a:rPr>
              <a:t>짧고 밀도 있게 읽히는 문단으로 구성합니다.</a:t>
            </a:r>
          </a:p>
        </p:txBody>
      </p:sp>
      <p:sp>
        <p:nvSpPr>
          <p:cNvPr id="8" name="right-main"/>
          <p:cNvSpPr txBox="1"/>
          <p:nvPr/>
        </p:nvSpPr>
        <p:spPr>
          <a:xfrm>
            <a:off x="5197971" y="866775"/>
            <a:ext cx="6993880" cy="1247775"/>
          </a:xfrm>
          <a:prstGeom prst="rect">
            <a:avLst/>
          </a:prstGeom>
          <a:noFill/>
        </p:spPr>
        <p:txBody>
          <a:bodyPr wrap="square" lIns="342900" rIns="495300" tIns="304800" bIns="342900" anchor="t">
            <a:spAutoFit/>
          </a:bodyPr>
          <a:lstStyle/>
          <a:p>
            <a:pPr algn="l">
              <a:lnSpc>
                <a:spcPts val="2550"/>
              </a:lnSpc>
              <a:spcAft>
                <a:spcPts val="1200"/>
              </a:spcAft>
            </a:pPr>
            <a:r>
              <a:rPr sz="1500" b="0" i="0" u="none">
                <a:solidFill>
                  <a:srgbClr val="292524"/>
                </a:solidFill>
                <a:latin typeface="Pretendard"/>
              </a:rPr>
              <a:t>오른쪽 칼럼은 상세 설명, 사례, 데이터, 맥락을 풀어내는 영역입니다.</a:t>
            </a:r>
          </a:p>
          <a:p>
            <a:pPr algn="l">
              <a:lnSpc>
                <a:spcPts val="2550"/>
              </a:lnSpc>
              <a:spcAft>
                <a:spcPts val="1200"/>
              </a:spcAft>
            </a:pPr>
            <a:r>
              <a:rPr sz="1500" b="0" i="0" u="none">
                <a:solidFill>
                  <a:srgbClr val="292524"/>
                </a:solidFill>
                <a:latin typeface="Pretendard"/>
              </a:rPr>
              <a:t>구체적인 실행 내역과 배운 점을 자연스럽게 연결합니다.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0E7FF"/>
            </a:gs>
            <a:gs pos="100000">
              <a:srgbClr val="DBEAFE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closing-paper-light__back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osing-paper-light__accen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" y="1162050"/>
            <a:ext cx="114300" cy="4533900"/>
          </a:xfrm>
          <a:prstGeom prst="rect">
            <a:avLst/>
          </a:prstGeom>
        </p:spPr>
      </p:pic>
      <p:sp>
        <p:nvSpPr>
          <p:cNvPr id="4" name="closing-paper-light__panel"/>
          <p:cNvSpPr/>
          <p:nvPr/>
        </p:nvSpPr>
        <p:spPr>
          <a:xfrm>
            <a:off x="1257300" y="876300"/>
            <a:ext cx="9677400" cy="5105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essage-main"/>
          <p:cNvSpPr txBox="1"/>
          <p:nvPr/>
        </p:nvSpPr>
        <p:spPr>
          <a:xfrm>
            <a:off x="5664845" y="2548384"/>
            <a:ext cx="862161" cy="565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0" i="0" u="none">
                <a:solidFill>
                  <a:srgbClr val="1C1917"/>
                </a:solidFill>
                <a:latin typeface="Pretendard"/>
              </a:rPr>
              <a:t>감사합니다</a:t>
            </a:r>
          </a:p>
        </p:txBody>
      </p:sp>
      <p:sp>
        <p:nvSpPr>
          <p:cNvPr id="6" name="subtitle-main"/>
          <p:cNvSpPr txBox="1"/>
          <p:nvPr/>
        </p:nvSpPr>
        <p:spPr>
          <a:xfrm>
            <a:off x="5468243" y="3266480"/>
            <a:ext cx="125536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200"/>
              </a:lnSpc>
            </a:pPr>
            <a:r>
              <a:rPr sz="2000" b="0" i="0" u="none">
                <a:solidFill>
                  <a:srgbClr val="57534E"/>
                </a:solidFill>
                <a:latin typeface="Pretendard"/>
              </a:rPr>
              <a:t>함께 일할 기회를 기다리고 있습니다</a:t>
            </a:r>
          </a:p>
        </p:txBody>
      </p:sp>
      <p:sp>
        <p:nvSpPr>
          <p:cNvPr id="7" name="contact-main"/>
          <p:cNvSpPr txBox="1"/>
          <p:nvPr/>
        </p:nvSpPr>
        <p:spPr>
          <a:xfrm>
            <a:off x="5071318" y="3876080"/>
            <a:ext cx="2049214" cy="433388"/>
          </a:xfrm>
          <a:prstGeom prst="rect">
            <a:avLst/>
          </a:prstGeom>
          <a:noFill/>
        </p:spPr>
        <p:txBody>
          <a:bodyPr wrap="square" lIns="285750" rIns="285750" tIns="114300" bIns="11430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sz="1500" b="0" i="0" u="none">
                <a:solidFill>
                  <a:srgbClr val="2563EB"/>
                </a:solidFill>
                <a:latin typeface="Pretendard"/>
              </a:rPr>
              <a:t>email@example.com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AF9"/>
            </a:gs>
            <a:gs pos="100000">
              <a:srgbClr val="F8FAFC"/>
            </a:gs>
          </a:gsLst>
          <a:lin scaled="0" ang="129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quote-paper-light__back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quote-paper-light__panel"/>
          <p:cNvSpPr/>
          <p:nvPr/>
        </p:nvSpPr>
        <p:spPr>
          <a:xfrm>
            <a:off x="1181100" y="876300"/>
            <a:ext cx="9829800" cy="5105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quote-paper-light__ru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257300"/>
            <a:ext cx="57150" cy="4343400"/>
          </a:xfrm>
          <a:prstGeom prst="rect">
            <a:avLst/>
          </a:prstGeom>
        </p:spPr>
      </p:pic>
      <p:sp>
        <p:nvSpPr>
          <p:cNvPr id="5" name="title-main"/>
          <p:cNvSpPr txBox="1"/>
          <p:nvPr/>
        </p:nvSpPr>
        <p:spPr>
          <a:xfrm>
            <a:off x="4918025" y="2823716"/>
            <a:ext cx="438894" cy="1361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300" b="0" i="0" u="none">
                <a:solidFill>
                  <a:srgbClr val="2563EB"/>
                </a:solidFill>
                <a:latin typeface="Pretendard"/>
              </a:rPr>
              <a:t>핵심 메시지</a:t>
            </a:r>
          </a:p>
        </p:txBody>
      </p:sp>
      <p:sp>
        <p:nvSpPr>
          <p:cNvPr id="6" name="quote-main"/>
          <p:cNvSpPr txBox="1"/>
          <p:nvPr/>
        </p:nvSpPr>
        <p:spPr>
          <a:xfrm>
            <a:off x="4918025" y="3131344"/>
            <a:ext cx="3232100" cy="453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760"/>
              </a:lnSpc>
            </a:pPr>
            <a:r>
              <a:rPr sz="3400" b="0" i="0" u="none">
                <a:solidFill>
                  <a:srgbClr val="1C1917"/>
                </a:solidFill>
                <a:latin typeface="Pretendard"/>
              </a:rPr>
              <a:t>미션과 가치를 한 줄로 전달하는 인용문이 들어갑니다.</a:t>
            </a:r>
          </a:p>
        </p:txBody>
      </p:sp>
      <p:sp>
        <p:nvSpPr>
          <p:cNvPr id="7" name="attribution-main"/>
          <p:cNvSpPr txBox="1"/>
          <p:nvPr/>
        </p:nvSpPr>
        <p:spPr>
          <a:xfrm>
            <a:off x="4918025" y="3813274"/>
            <a:ext cx="306139" cy="2208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20"/>
              </a:lnSpc>
            </a:pPr>
            <a:r>
              <a:rPr sz="1600" b="0" i="0" u="none">
                <a:solidFill>
                  <a:srgbClr val="78716C"/>
                </a:solidFill>
                <a:latin typeface="Pretendard"/>
              </a:rPr>
              <a:t>— 출처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