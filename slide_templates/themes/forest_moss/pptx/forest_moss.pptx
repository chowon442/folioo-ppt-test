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비중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예시 A</c:v>
                </c:pt>
                <c:pt idx="1">
                  <c:v>예시 B</c:v>
                </c:pt>
                <c:pt idx="2">
                  <c:v>예시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45</c:v>
                </c:pt>
              </c:numCache>
            </c:numRef>
          </c:val>
        </c:ser>
        <c:dLbls>
          <c:numFmt formatCode="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2E16"/>
            </a:gs>
            <a:gs pos="100000">
              <a:srgbClr val="022C2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over-forest-moss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over-forest-moss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" y="838200"/>
            <a:ext cx="57150" cy="1123950"/>
          </a:xfrm>
          <a:prstGeom prst="rect">
            <a:avLst/>
          </a:prstGeom>
        </p:spPr>
      </p:pic>
      <p:sp>
        <p:nvSpPr>
          <p:cNvPr id="4" name="cover-forest-moss__accent-2"/>
          <p:cNvSpPr/>
          <p:nvPr/>
        </p:nvSpPr>
        <p:spPr>
          <a:xfrm>
            <a:off x="10915650" y="990600"/>
            <a:ext cx="152400" cy="1524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ver-forest-moss__panel"/>
          <p:cNvSpPr/>
          <p:nvPr/>
        </p:nvSpPr>
        <p:spPr>
          <a:xfrm>
            <a:off x="323850" y="323850"/>
            <a:ext cx="11563350" cy="6210300"/>
          </a:xfrm>
          <a:prstGeom prst="roundRect">
            <a:avLst/>
          </a:prstGeom>
          <a:solidFill>
            <a:srgbClr val="022C22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main"/>
          <p:cNvSpPr txBox="1"/>
          <p:nvPr/>
        </p:nvSpPr>
        <p:spPr>
          <a:xfrm>
            <a:off x="990600" y="2602409"/>
            <a:ext cx="2639020" cy="53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568"/>
              </a:lnSpc>
            </a:pPr>
            <a:r>
              <a:rPr sz="4800" b="0" i="0" u="none">
                <a:solidFill>
                  <a:srgbClr val="ECFDF5"/>
                </a:solidFill>
                <a:latin typeface="Pretendard"/>
              </a:rPr>
              <a:t>프로젝트 제목이 여기에 들어갑니다</a:t>
            </a:r>
          </a:p>
        </p:txBody>
      </p:sp>
      <p:sp>
        <p:nvSpPr>
          <p:cNvPr id="7" name="subtitle-main"/>
          <p:cNvSpPr txBox="1"/>
          <p:nvPr/>
        </p:nvSpPr>
        <p:spPr>
          <a:xfrm>
            <a:off x="990600" y="3304133"/>
            <a:ext cx="2639020" cy="282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sz="1800" b="0" i="0" u="none">
                <a:solidFill>
                  <a:srgbClr val="A7F3D0"/>
                </a:solidFill>
                <a:latin typeface="Pretendard"/>
              </a:rPr>
              <a:t>부제목 또는 한 줄 요약 설명</a:t>
            </a:r>
          </a:p>
        </p:txBody>
      </p:sp>
      <p:sp>
        <p:nvSpPr>
          <p:cNvPr id="8" name="author-main"/>
          <p:cNvSpPr txBox="1"/>
          <p:nvPr/>
        </p:nvSpPr>
        <p:spPr>
          <a:xfrm>
            <a:off x="990600" y="3910757"/>
            <a:ext cx="556766" cy="344686"/>
          </a:xfrm>
          <a:prstGeom prst="rect">
            <a:avLst/>
          </a:prstGeom>
          <a:noFill/>
        </p:spPr>
        <p:txBody>
          <a:bodyPr wrap="square" lIns="171450" rIns="171450" tIns="76200" bIns="7620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 i="0" u="none">
                <a:solidFill>
                  <a:srgbClr val="D1FAE5"/>
                </a:solidFill>
                <a:latin typeface="Pretendard"/>
              </a:rPr>
              <a:t>작성자명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57200" y="381000"/>
            <a:ext cx="11277600" cy="40005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 u="none">
                <a:solidFill>
                  <a:srgbClr val="ECFDF5"/>
                </a:solidFill>
                <a:latin typeface="Pretendard"/>
              </a:rPr>
              <a:t>기술 스택</a:t>
            </a:r>
          </a:p>
        </p:txBody>
      </p:sp>
      <p:sp>
        <p:nvSpPr>
          <p:cNvPr id="3" name="slide-skills__skill-group"/>
          <p:cNvSpPr/>
          <p:nvPr/>
        </p:nvSpPr>
        <p:spPr>
          <a:xfrm>
            <a:off x="457200" y="990600"/>
            <a:ext cx="11277600" cy="1739950"/>
          </a:xfrm>
          <a:prstGeom prst="rect">
            <a:avLst/>
          </a:prstGeom>
          <a:solidFill>
            <a:srgbClr val="00000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Frontend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4" name="slide-skills__shape"/>
          <p:cNvSpPr/>
          <p:nvPr/>
        </p:nvSpPr>
        <p:spPr>
          <a:xfrm>
            <a:off x="466725" y="1000125"/>
            <a:ext cx="11258550" cy="17209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-skills__skill-chip"/>
          <p:cNvSpPr/>
          <p:nvPr/>
        </p:nvSpPr>
        <p:spPr>
          <a:xfrm>
            <a:off x="2562225" y="1691432"/>
            <a:ext cx="604093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6" name="slide-skills__shape-2"/>
          <p:cNvSpPr/>
          <p:nvPr/>
        </p:nvSpPr>
        <p:spPr>
          <a:xfrm>
            <a:off x="2562225" y="1691432"/>
            <a:ext cx="604093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skills__skill-chip-2"/>
          <p:cNvSpPr/>
          <p:nvPr/>
        </p:nvSpPr>
        <p:spPr>
          <a:xfrm>
            <a:off x="3242518" y="1691432"/>
            <a:ext cx="897434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</p:txBody>
      </p:sp>
      <p:sp>
        <p:nvSpPr>
          <p:cNvPr id="8" name="slide-skills__shape-3"/>
          <p:cNvSpPr/>
          <p:nvPr/>
        </p:nvSpPr>
        <p:spPr>
          <a:xfrm>
            <a:off x="3242518" y="1691432"/>
            <a:ext cx="897434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-skills__skill-chip-3"/>
          <p:cNvSpPr/>
          <p:nvPr/>
        </p:nvSpPr>
        <p:spPr>
          <a:xfrm>
            <a:off x="4216152" y="1691432"/>
            <a:ext cx="672852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10" name="slide-skills__shape-4"/>
          <p:cNvSpPr/>
          <p:nvPr/>
        </p:nvSpPr>
        <p:spPr>
          <a:xfrm>
            <a:off x="4216152" y="1691432"/>
            <a:ext cx="672852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-skills__skill-group-2"/>
          <p:cNvSpPr/>
          <p:nvPr/>
        </p:nvSpPr>
        <p:spPr>
          <a:xfrm>
            <a:off x="457200" y="2844850"/>
            <a:ext cx="11277600" cy="1739950"/>
          </a:xfrm>
          <a:prstGeom prst="rect">
            <a:avLst/>
          </a:prstGeom>
          <a:solidFill>
            <a:srgbClr val="00000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Backend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2" name="slide-skills__shape-5"/>
          <p:cNvSpPr/>
          <p:nvPr/>
        </p:nvSpPr>
        <p:spPr>
          <a:xfrm>
            <a:off x="466725" y="2854375"/>
            <a:ext cx="11258550" cy="17209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lide-skills__skill-chip-4"/>
          <p:cNvSpPr/>
          <p:nvPr/>
        </p:nvSpPr>
        <p:spPr>
          <a:xfrm>
            <a:off x="2562225" y="3545681"/>
            <a:ext cx="686395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4" name="slide-skills__shape-6"/>
          <p:cNvSpPr/>
          <p:nvPr/>
        </p:nvSpPr>
        <p:spPr>
          <a:xfrm>
            <a:off x="2562225" y="3545681"/>
            <a:ext cx="686395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ide-skills__skill-chip-5"/>
          <p:cNvSpPr/>
          <p:nvPr/>
        </p:nvSpPr>
        <p:spPr>
          <a:xfrm>
            <a:off x="3324820" y="3545681"/>
            <a:ext cx="727770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6" name="slide-skills__shape-7"/>
          <p:cNvSpPr/>
          <p:nvPr/>
        </p:nvSpPr>
        <p:spPr>
          <a:xfrm>
            <a:off x="3324820" y="3545681"/>
            <a:ext cx="727770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lide-skills__skill-chip-6"/>
          <p:cNvSpPr/>
          <p:nvPr/>
        </p:nvSpPr>
        <p:spPr>
          <a:xfrm>
            <a:off x="4128790" y="3545681"/>
            <a:ext cx="714077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18" name="slide-skills__shape-8"/>
          <p:cNvSpPr/>
          <p:nvPr/>
        </p:nvSpPr>
        <p:spPr>
          <a:xfrm>
            <a:off x="4128790" y="3545681"/>
            <a:ext cx="714077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lide-skills__skill-group-3"/>
          <p:cNvSpPr/>
          <p:nvPr/>
        </p:nvSpPr>
        <p:spPr>
          <a:xfrm>
            <a:off x="457200" y="4699099"/>
            <a:ext cx="11277600" cy="1739950"/>
          </a:xfrm>
          <a:prstGeom prst="rect">
            <a:avLst/>
          </a:prstGeom>
          <a:solidFill>
            <a:srgbClr val="000000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DevOps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0" name="slide-skills__shape-9"/>
          <p:cNvSpPr/>
          <p:nvPr/>
        </p:nvSpPr>
        <p:spPr>
          <a:xfrm>
            <a:off x="466725" y="4708624"/>
            <a:ext cx="11258550" cy="1720900"/>
          </a:xfrm>
          <a:prstGeom prst="round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lide-skills__skill-chip-7"/>
          <p:cNvSpPr/>
          <p:nvPr/>
        </p:nvSpPr>
        <p:spPr>
          <a:xfrm>
            <a:off x="2562225" y="5399931"/>
            <a:ext cx="686544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</p:txBody>
      </p:sp>
      <p:sp>
        <p:nvSpPr>
          <p:cNvPr id="22" name="slide-skills__shape-10"/>
          <p:cNvSpPr/>
          <p:nvPr/>
        </p:nvSpPr>
        <p:spPr>
          <a:xfrm>
            <a:off x="2562225" y="5399931"/>
            <a:ext cx="686544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lide-skills__skill-chip-8"/>
          <p:cNvSpPr/>
          <p:nvPr/>
        </p:nvSpPr>
        <p:spPr>
          <a:xfrm>
            <a:off x="3324969" y="5399931"/>
            <a:ext cx="548878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</p:txBody>
      </p:sp>
      <p:sp>
        <p:nvSpPr>
          <p:cNvPr id="24" name="slide-skills__shape-11"/>
          <p:cNvSpPr/>
          <p:nvPr/>
        </p:nvSpPr>
        <p:spPr>
          <a:xfrm>
            <a:off x="3324969" y="5399931"/>
            <a:ext cx="548878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lide-skills__skill-chip-9"/>
          <p:cNvSpPr/>
          <p:nvPr/>
        </p:nvSpPr>
        <p:spPr>
          <a:xfrm>
            <a:off x="3950047" y="5399931"/>
            <a:ext cx="1163241" cy="338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26" name="slide-skills__shape-12"/>
          <p:cNvSpPr/>
          <p:nvPr/>
        </p:nvSpPr>
        <p:spPr>
          <a:xfrm>
            <a:off x="3950047" y="5399931"/>
            <a:ext cx="1163241" cy="338138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lide-skills__group-title"/>
          <p:cNvSpPr txBox="1"/>
          <p:nvPr/>
        </p:nvSpPr>
        <p:spPr>
          <a:xfrm>
            <a:off x="657225" y="1753344"/>
            <a:ext cx="66481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EE7B7"/>
                </a:solidFill>
                <a:latin typeface="Pretendard"/>
              </a:rPr>
              <a:t>Frontend</a:t>
            </a:r>
          </a:p>
        </p:txBody>
      </p:sp>
      <p:sp>
        <p:nvSpPr>
          <p:cNvPr id="28" name="slide-skills__group"/>
          <p:cNvSpPr/>
          <p:nvPr/>
        </p:nvSpPr>
        <p:spPr>
          <a:xfrm>
            <a:off x="2371725" y="1000125"/>
            <a:ext cx="9353550" cy="172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TypeScript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Next.js</a:t>
            </a:r>
          </a:p>
        </p:txBody>
      </p:sp>
      <p:sp>
        <p:nvSpPr>
          <p:cNvPr id="29" name="slide-skills__chip-text"/>
          <p:cNvSpPr txBox="1"/>
          <p:nvPr/>
        </p:nvSpPr>
        <p:spPr>
          <a:xfrm>
            <a:off x="2562225" y="1691432"/>
            <a:ext cx="604093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React</a:t>
            </a:r>
          </a:p>
        </p:txBody>
      </p:sp>
      <p:sp>
        <p:nvSpPr>
          <p:cNvPr id="30" name="slide-skills__chip-text-2"/>
          <p:cNvSpPr txBox="1"/>
          <p:nvPr/>
        </p:nvSpPr>
        <p:spPr>
          <a:xfrm>
            <a:off x="3242518" y="1691432"/>
            <a:ext cx="897434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TypeScript</a:t>
            </a:r>
          </a:p>
        </p:txBody>
      </p:sp>
      <p:sp>
        <p:nvSpPr>
          <p:cNvPr id="31" name="slide-skills__chip-text-3"/>
          <p:cNvSpPr txBox="1"/>
          <p:nvPr/>
        </p:nvSpPr>
        <p:spPr>
          <a:xfrm>
            <a:off x="4216152" y="1691432"/>
            <a:ext cx="672852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Next.js</a:t>
            </a:r>
          </a:p>
        </p:txBody>
      </p:sp>
      <p:sp>
        <p:nvSpPr>
          <p:cNvPr id="32" name="slide-skills__group-title-2"/>
          <p:cNvSpPr txBox="1"/>
          <p:nvPr/>
        </p:nvSpPr>
        <p:spPr>
          <a:xfrm>
            <a:off x="657225" y="3607594"/>
            <a:ext cx="63564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EE7B7"/>
                </a:solidFill>
                <a:latin typeface="Pretendard"/>
              </a:rPr>
              <a:t>Backend</a:t>
            </a:r>
          </a:p>
        </p:txBody>
      </p:sp>
      <p:sp>
        <p:nvSpPr>
          <p:cNvPr id="33" name="slide-skills__group-2"/>
          <p:cNvSpPr/>
          <p:nvPr/>
        </p:nvSpPr>
        <p:spPr>
          <a:xfrm>
            <a:off x="2371725" y="2854375"/>
            <a:ext cx="9353550" cy="172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Node.js</a:t>
            </a:r>
          </a:p>
        </p:txBody>
      </p:sp>
      <p:sp>
        <p:nvSpPr>
          <p:cNvPr id="34" name="slide-skills__chip-text-4"/>
          <p:cNvSpPr txBox="1"/>
          <p:nvPr/>
        </p:nvSpPr>
        <p:spPr>
          <a:xfrm>
            <a:off x="2562225" y="3545681"/>
            <a:ext cx="686395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Python</a:t>
            </a:r>
          </a:p>
        </p:txBody>
      </p:sp>
      <p:sp>
        <p:nvSpPr>
          <p:cNvPr id="35" name="slide-skills__chip-text-5"/>
          <p:cNvSpPr txBox="1"/>
          <p:nvPr/>
        </p:nvSpPr>
        <p:spPr>
          <a:xfrm>
            <a:off x="3324820" y="3545681"/>
            <a:ext cx="727770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FastAPI</a:t>
            </a:r>
          </a:p>
        </p:txBody>
      </p:sp>
      <p:sp>
        <p:nvSpPr>
          <p:cNvPr id="36" name="slide-skills__chip-text-6"/>
          <p:cNvSpPr txBox="1"/>
          <p:nvPr/>
        </p:nvSpPr>
        <p:spPr>
          <a:xfrm>
            <a:off x="4128790" y="3545681"/>
            <a:ext cx="714077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Node.js</a:t>
            </a:r>
          </a:p>
        </p:txBody>
      </p:sp>
      <p:sp>
        <p:nvSpPr>
          <p:cNvPr id="37" name="slide-skills__group-title-3"/>
          <p:cNvSpPr txBox="1"/>
          <p:nvPr/>
        </p:nvSpPr>
        <p:spPr>
          <a:xfrm>
            <a:off x="657225" y="5461843"/>
            <a:ext cx="574328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6EE7B7"/>
                </a:solidFill>
                <a:latin typeface="Pretendard"/>
              </a:rPr>
              <a:t>DevOps</a:t>
            </a:r>
          </a:p>
        </p:txBody>
      </p:sp>
      <p:sp>
        <p:nvSpPr>
          <p:cNvPr id="38" name="slide-skills__group-3"/>
          <p:cNvSpPr/>
          <p:nvPr/>
        </p:nvSpPr>
        <p:spPr>
          <a:xfrm>
            <a:off x="2371725" y="4708624"/>
            <a:ext cx="9353550" cy="1720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19050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Docker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AWS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GitHub Actions</a:t>
            </a:r>
          </a:p>
        </p:txBody>
      </p:sp>
      <p:sp>
        <p:nvSpPr>
          <p:cNvPr id="39" name="slide-skills__chip-text-7"/>
          <p:cNvSpPr txBox="1"/>
          <p:nvPr/>
        </p:nvSpPr>
        <p:spPr>
          <a:xfrm>
            <a:off x="2562225" y="5399931"/>
            <a:ext cx="686544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Docker</a:t>
            </a:r>
          </a:p>
        </p:txBody>
      </p:sp>
      <p:sp>
        <p:nvSpPr>
          <p:cNvPr id="40" name="slide-skills__chip-text-8"/>
          <p:cNvSpPr txBox="1"/>
          <p:nvPr/>
        </p:nvSpPr>
        <p:spPr>
          <a:xfrm>
            <a:off x="3324969" y="5399931"/>
            <a:ext cx="548878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AWS</a:t>
            </a:r>
          </a:p>
        </p:txBody>
      </p:sp>
      <p:sp>
        <p:nvSpPr>
          <p:cNvPr id="41" name="slide-skills__chip-text-9"/>
          <p:cNvSpPr txBox="1"/>
          <p:nvPr/>
        </p:nvSpPr>
        <p:spPr>
          <a:xfrm>
            <a:off x="3950047" y="5399931"/>
            <a:ext cx="1163241" cy="338138"/>
          </a:xfrm>
          <a:prstGeom prst="rect">
            <a:avLst/>
          </a:prstGeom>
          <a:noFill/>
        </p:spPr>
        <p:txBody>
          <a:bodyPr wrap="square" lIns="133350" rIns="133350" tIns="76200" bIns="7620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D1FAE5"/>
                </a:solidFill>
                <a:latin typeface="Pretendard"/>
              </a:rPr>
              <a:t>GitHub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381000"/>
            <a:ext cx="11201400" cy="400050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0" i="0" u="none">
                <a:solidFill>
                  <a:srgbClr val="ECFDF5"/>
                </a:solidFill>
                <a:latin typeface="Pretendard"/>
              </a:rPr>
              <a:t>경력 타임라인</a:t>
            </a:r>
          </a:p>
        </p:txBody>
      </p:sp>
      <p:sp>
        <p:nvSpPr>
          <p:cNvPr id="3" name="slide-timeline__track-line"/>
          <p:cNvSpPr/>
          <p:nvPr/>
        </p:nvSpPr>
        <p:spPr>
          <a:xfrm>
            <a:off x="552450" y="1028700"/>
            <a:ext cx="19050" cy="5372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-timeline__timeline-item"/>
          <p:cNvSpPr/>
          <p:nvPr/>
        </p:nvSpPr>
        <p:spPr>
          <a:xfrm>
            <a:off x="723900" y="99060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운영 안정성과 성능 개선을 중심으로 제품을 확장했습니다.</a:t>
            </a:r>
          </a:p>
        </p:txBody>
      </p:sp>
      <p:pic>
        <p:nvPicPr>
          <p:cNvPr id="5" name="slide-timeline__do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200150"/>
            <a:ext cx="114300" cy="114300"/>
          </a:xfrm>
          <a:prstGeom prst="rect">
            <a:avLst/>
          </a:prstGeom>
        </p:spPr>
      </p:pic>
      <p:sp>
        <p:nvSpPr>
          <p:cNvPr id="6" name="slide-timeline__group"/>
          <p:cNvSpPr/>
          <p:nvPr/>
        </p:nvSpPr>
        <p:spPr>
          <a:xfrm>
            <a:off x="723900" y="99060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2024.01 ~ 현재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시니어 개발자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운영 안정성과 성능 개선을 중심으로 제품을 확장했습니다.</a:t>
            </a:r>
          </a:p>
        </p:txBody>
      </p:sp>
      <p:sp>
        <p:nvSpPr>
          <p:cNvPr id="7" name="slide-timeline__shape"/>
          <p:cNvSpPr/>
          <p:nvPr/>
        </p:nvSpPr>
        <p:spPr>
          <a:xfrm>
            <a:off x="723900" y="990600"/>
            <a:ext cx="10972800" cy="883890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-timeline__timeline-item-2"/>
          <p:cNvSpPr/>
          <p:nvPr/>
        </p:nvSpPr>
        <p:spPr>
          <a:xfrm>
            <a:off x="723900" y="196974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서비스 엔지니어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데이터 파이프라인과 어드민 툴을 설계하고 운영했습니다.</a:t>
            </a:r>
          </a:p>
        </p:txBody>
      </p:sp>
      <p:pic>
        <p:nvPicPr>
          <p:cNvPr id="9" name="slide-timeline__dot-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179290"/>
            <a:ext cx="114300" cy="114300"/>
          </a:xfrm>
          <a:prstGeom prst="rect">
            <a:avLst/>
          </a:prstGeom>
        </p:spPr>
      </p:pic>
      <p:sp>
        <p:nvSpPr>
          <p:cNvPr id="10" name="slide-timeline__group-2"/>
          <p:cNvSpPr/>
          <p:nvPr/>
        </p:nvSpPr>
        <p:spPr>
          <a:xfrm>
            <a:off x="723900" y="196974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2022.03 ~ 2023.12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서비스 엔지니어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데이터 파이프라인과 어드민 툴을 설계하고 운영했습니다.</a:t>
            </a:r>
          </a:p>
        </p:txBody>
      </p:sp>
      <p:sp>
        <p:nvSpPr>
          <p:cNvPr id="11" name="slide-timeline__shape-2"/>
          <p:cNvSpPr/>
          <p:nvPr/>
        </p:nvSpPr>
        <p:spPr>
          <a:xfrm>
            <a:off x="723900" y="1969740"/>
            <a:ext cx="10972800" cy="883890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-timeline__timeline-item-3"/>
          <p:cNvSpPr/>
          <p:nvPr/>
        </p:nvSpPr>
        <p:spPr>
          <a:xfrm>
            <a:off x="723900" y="294888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운영 지표 대시보드와 실험용 기능을 빠르게 제작했습니다.</a:t>
            </a:r>
          </a:p>
        </p:txBody>
      </p:sp>
      <p:pic>
        <p:nvPicPr>
          <p:cNvPr id="13" name="slide-timeline__dot-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158430"/>
            <a:ext cx="114300" cy="114300"/>
          </a:xfrm>
          <a:prstGeom prst="rect">
            <a:avLst/>
          </a:prstGeom>
        </p:spPr>
      </p:pic>
      <p:sp>
        <p:nvSpPr>
          <p:cNvPr id="14" name="slide-timeline__group-3"/>
          <p:cNvSpPr/>
          <p:nvPr/>
        </p:nvSpPr>
        <p:spPr>
          <a:xfrm>
            <a:off x="723900" y="2948880"/>
            <a:ext cx="10972800" cy="88389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71450" rIns="17145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2021.09 ~ 2022.02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인턴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운영 지표 대시보드와 실험용 기능을 빠르게 제작했습니다.</a:t>
            </a:r>
          </a:p>
        </p:txBody>
      </p:sp>
      <p:sp>
        <p:nvSpPr>
          <p:cNvPr id="15" name="slide-timeline__shape-3"/>
          <p:cNvSpPr/>
          <p:nvPr/>
        </p:nvSpPr>
        <p:spPr>
          <a:xfrm>
            <a:off x="723900" y="2948880"/>
            <a:ext cx="10972800" cy="883890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timeline__date"/>
          <p:cNvSpPr txBox="1"/>
          <p:nvPr/>
        </p:nvSpPr>
        <p:spPr>
          <a:xfrm>
            <a:off x="895350" y="1123950"/>
            <a:ext cx="106299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i="0" u="none">
                <a:solidFill>
                  <a:srgbClr val="6EE7B7"/>
                </a:solidFill>
                <a:latin typeface="Pretendard"/>
              </a:rPr>
              <a:t>2024.01 ~ 현재</a:t>
            </a:r>
          </a:p>
        </p:txBody>
      </p:sp>
      <p:sp>
        <p:nvSpPr>
          <p:cNvPr id="17" name="slide-timeline__item-title"/>
          <p:cNvSpPr txBox="1"/>
          <p:nvPr/>
        </p:nvSpPr>
        <p:spPr>
          <a:xfrm>
            <a:off x="895350" y="1319212"/>
            <a:ext cx="106299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 u="none">
                <a:solidFill>
                  <a:srgbClr val="ECFDF5"/>
                </a:solidFill>
                <a:latin typeface="Pretendard"/>
              </a:rPr>
              <a:t>시니어 개발자</a:t>
            </a:r>
          </a:p>
        </p:txBody>
      </p:sp>
      <p:sp>
        <p:nvSpPr>
          <p:cNvPr id="18" name="slide-timeline__item-body"/>
          <p:cNvSpPr txBox="1"/>
          <p:nvPr/>
        </p:nvSpPr>
        <p:spPr>
          <a:xfrm>
            <a:off x="895350" y="1555403"/>
            <a:ext cx="106299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A7F3D0"/>
                </a:solidFill>
                <a:latin typeface="Pretendard"/>
              </a:rPr>
              <a:t>운영 안정성과 성능 개선을 중심으로 제품을 확장했습니다.</a:t>
            </a:r>
          </a:p>
        </p:txBody>
      </p:sp>
      <p:sp>
        <p:nvSpPr>
          <p:cNvPr id="19" name="slide-timeline__date-2"/>
          <p:cNvSpPr txBox="1"/>
          <p:nvPr/>
        </p:nvSpPr>
        <p:spPr>
          <a:xfrm>
            <a:off x="895350" y="2103090"/>
            <a:ext cx="106299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i="0" u="none">
                <a:solidFill>
                  <a:srgbClr val="6EE7B7"/>
                </a:solidFill>
                <a:latin typeface="Pretendard"/>
              </a:rPr>
              <a:t>2022.03 ~ 2023.12</a:t>
            </a:r>
          </a:p>
        </p:txBody>
      </p:sp>
      <p:sp>
        <p:nvSpPr>
          <p:cNvPr id="20" name="slide-timeline__item-title-2"/>
          <p:cNvSpPr txBox="1"/>
          <p:nvPr/>
        </p:nvSpPr>
        <p:spPr>
          <a:xfrm>
            <a:off x="895350" y="2298353"/>
            <a:ext cx="106299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 u="none">
                <a:solidFill>
                  <a:srgbClr val="ECFDF5"/>
                </a:solidFill>
                <a:latin typeface="Pretendard"/>
              </a:rPr>
              <a:t>서비스 엔지니어</a:t>
            </a:r>
          </a:p>
        </p:txBody>
      </p:sp>
      <p:sp>
        <p:nvSpPr>
          <p:cNvPr id="21" name="slide-timeline__item-body-2"/>
          <p:cNvSpPr txBox="1"/>
          <p:nvPr/>
        </p:nvSpPr>
        <p:spPr>
          <a:xfrm>
            <a:off x="895350" y="2534543"/>
            <a:ext cx="106299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A7F3D0"/>
                </a:solidFill>
                <a:latin typeface="Pretendard"/>
              </a:rPr>
              <a:t>데이터 파이프라인과 어드민 툴을 설계하고 운영했습니다.</a:t>
            </a:r>
          </a:p>
        </p:txBody>
      </p:sp>
      <p:sp>
        <p:nvSpPr>
          <p:cNvPr id="22" name="slide-timeline__date-3"/>
          <p:cNvSpPr txBox="1"/>
          <p:nvPr/>
        </p:nvSpPr>
        <p:spPr>
          <a:xfrm>
            <a:off x="895350" y="3082230"/>
            <a:ext cx="10629900" cy="1571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i="0" u="none">
                <a:solidFill>
                  <a:srgbClr val="6EE7B7"/>
                </a:solidFill>
                <a:latin typeface="Pretendard"/>
              </a:rPr>
              <a:t>2021.09 ~ 2022.02</a:t>
            </a:r>
          </a:p>
        </p:txBody>
      </p:sp>
      <p:sp>
        <p:nvSpPr>
          <p:cNvPr id="23" name="slide-timeline__item-title-3"/>
          <p:cNvSpPr txBox="1"/>
          <p:nvPr/>
        </p:nvSpPr>
        <p:spPr>
          <a:xfrm>
            <a:off x="895350" y="3277493"/>
            <a:ext cx="1062990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 i="0" u="none">
                <a:solidFill>
                  <a:srgbClr val="ECFDF5"/>
                </a:solidFill>
                <a:latin typeface="Pretendard"/>
              </a:rPr>
              <a:t>인턴</a:t>
            </a:r>
          </a:p>
        </p:txBody>
      </p:sp>
      <p:sp>
        <p:nvSpPr>
          <p:cNvPr id="24" name="slide-timeline__item-body-3"/>
          <p:cNvSpPr txBox="1"/>
          <p:nvPr/>
        </p:nvSpPr>
        <p:spPr>
          <a:xfrm>
            <a:off x="895350" y="3513683"/>
            <a:ext cx="10629900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A7F3D0"/>
                </a:solidFill>
                <a:latin typeface="Pretendard"/>
              </a:rPr>
              <a:t>운영 지표 대시보드와 실험용 기능을 빠르게 제작했습니다.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slide-agenda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-main"/>
          <p:cNvSpPr txBox="1"/>
          <p:nvPr/>
        </p:nvSpPr>
        <p:spPr>
          <a:xfrm>
            <a:off x="5861298" y="2247900"/>
            <a:ext cx="469255" cy="571500"/>
          </a:xfrm>
          <a:prstGeom prst="rect">
            <a:avLst/>
          </a:prstGeom>
          <a:noFill/>
        </p:spPr>
        <p:txBody>
          <a:bodyPr wrap="square" lIns="0" rIns="0" tIns="0" bIns="15240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2800" b="0" i="0" u="none">
                <a:solidFill>
                  <a:srgbClr val="ECFDF5"/>
                </a:solidFill>
                <a:latin typeface="Pretendard"/>
              </a:rPr>
              <a:t>목차 제목</a:t>
            </a:r>
          </a:p>
        </p:txBody>
      </p:sp>
      <p:sp>
        <p:nvSpPr>
          <p:cNvPr id="4" name="slide-agenda__agenda-item"/>
          <p:cNvSpPr/>
          <p:nvPr/>
        </p:nvSpPr>
        <p:spPr>
          <a:xfrm>
            <a:off x="5704880" y="3124200"/>
            <a:ext cx="782092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0" tIns="114300" bIns="1143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첫 번째 섹션</a:t>
            </a:r>
          </a:p>
        </p:txBody>
      </p:sp>
      <p:sp>
        <p:nvSpPr>
          <p:cNvPr id="5" name="agenda-item-panel-01"/>
          <p:cNvSpPr/>
          <p:nvPr/>
        </p:nvSpPr>
        <p:spPr>
          <a:xfrm>
            <a:off x="5704880" y="3162300"/>
            <a:ext cx="782092" cy="4095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-agenda__agenda-item-2"/>
          <p:cNvSpPr/>
          <p:nvPr/>
        </p:nvSpPr>
        <p:spPr>
          <a:xfrm>
            <a:off x="5704880" y="3619500"/>
            <a:ext cx="782092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0" tIns="114300" bIns="1143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두 번째 섹션</a:t>
            </a:r>
          </a:p>
        </p:txBody>
      </p:sp>
      <p:sp>
        <p:nvSpPr>
          <p:cNvPr id="7" name="agenda-item-panel-02"/>
          <p:cNvSpPr/>
          <p:nvPr/>
        </p:nvSpPr>
        <p:spPr>
          <a:xfrm>
            <a:off x="5704880" y="3657600"/>
            <a:ext cx="782092" cy="4095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-agenda__agenda-item-3"/>
          <p:cNvSpPr/>
          <p:nvPr/>
        </p:nvSpPr>
        <p:spPr>
          <a:xfrm>
            <a:off x="5704880" y="4114800"/>
            <a:ext cx="782092" cy="49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90500" rIns="0" tIns="114300" bIns="11430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세 번째 섹션</a:t>
            </a:r>
          </a:p>
        </p:txBody>
      </p:sp>
      <p:sp>
        <p:nvSpPr>
          <p:cNvPr id="9" name="agenda-item-panel-03"/>
          <p:cNvSpPr/>
          <p:nvPr/>
        </p:nvSpPr>
        <p:spPr>
          <a:xfrm>
            <a:off x="5704880" y="4152900"/>
            <a:ext cx="782092" cy="4191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agenda-item-marker-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80" y="3319462"/>
            <a:ext cx="95250" cy="95250"/>
          </a:xfrm>
          <a:prstGeom prst="rect">
            <a:avLst/>
          </a:prstGeom>
        </p:spPr>
      </p:pic>
      <p:sp>
        <p:nvSpPr>
          <p:cNvPr id="11" name="agenda-item-text-01"/>
          <p:cNvSpPr txBox="1"/>
          <p:nvPr/>
        </p:nvSpPr>
        <p:spPr>
          <a:xfrm>
            <a:off x="6123980" y="3252788"/>
            <a:ext cx="362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D1FAE5"/>
                </a:solidFill>
                <a:latin typeface="Pretendard"/>
              </a:rPr>
              <a:t>첫 번째 섹션</a:t>
            </a:r>
          </a:p>
        </p:txBody>
      </p:sp>
      <p:pic>
        <p:nvPicPr>
          <p:cNvPr id="12" name="agenda-item-marker-0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380" y="3814762"/>
            <a:ext cx="95250" cy="95250"/>
          </a:xfrm>
          <a:prstGeom prst="rect">
            <a:avLst/>
          </a:prstGeom>
        </p:spPr>
      </p:pic>
      <p:sp>
        <p:nvSpPr>
          <p:cNvPr id="13" name="agenda-item-text-02"/>
          <p:cNvSpPr txBox="1"/>
          <p:nvPr/>
        </p:nvSpPr>
        <p:spPr>
          <a:xfrm>
            <a:off x="6123980" y="3748088"/>
            <a:ext cx="362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D1FAE5"/>
                </a:solidFill>
                <a:latin typeface="Pretendard"/>
              </a:rPr>
              <a:t>두 번째 섹션</a:t>
            </a:r>
          </a:p>
        </p:txBody>
      </p:sp>
      <p:pic>
        <p:nvPicPr>
          <p:cNvPr id="14" name="agenda-item-marker-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5380" y="4314825"/>
            <a:ext cx="95250" cy="95250"/>
          </a:xfrm>
          <a:prstGeom prst="rect">
            <a:avLst/>
          </a:prstGeom>
        </p:spPr>
      </p:pic>
      <p:sp>
        <p:nvSpPr>
          <p:cNvPr id="15" name="agenda-item-text-03"/>
          <p:cNvSpPr txBox="1"/>
          <p:nvPr/>
        </p:nvSpPr>
        <p:spPr>
          <a:xfrm>
            <a:off x="6123980" y="4248150"/>
            <a:ext cx="3629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D1FAE5"/>
                </a:solidFill>
                <a:latin typeface="Pretendard"/>
              </a:rPr>
              <a:t>세 번째 섹션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slide-project_card__shape"/>
          <p:cNvSpPr/>
          <p:nvPr/>
        </p:nvSpPr>
        <p:spPr>
          <a:xfrm>
            <a:off x="0" y="0"/>
            <a:ext cx="9715500" cy="6858000"/>
          </a:xfrm>
          <a:prstGeom prst="rect">
            <a:avLst/>
          </a:prstGeom>
          <a:solidFill>
            <a:srgbClr val="022C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-project_card__highlight-card"/>
          <p:cNvSpPr/>
          <p:nvPr/>
        </p:nvSpPr>
        <p:spPr>
          <a:xfrm>
            <a:off x="495300" y="5114925"/>
            <a:ext cx="876300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</p:txBody>
      </p:sp>
      <p:sp>
        <p:nvSpPr>
          <p:cNvPr id="4" name="slide-project_card__shape-2"/>
          <p:cNvSpPr/>
          <p:nvPr/>
        </p:nvSpPr>
        <p:spPr>
          <a:xfrm>
            <a:off x="495300" y="5114925"/>
            <a:ext cx="8763000" cy="390525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-project_card__highlight-card-2"/>
          <p:cNvSpPr/>
          <p:nvPr/>
        </p:nvSpPr>
        <p:spPr>
          <a:xfrm>
            <a:off x="495300" y="5581650"/>
            <a:ext cx="876300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</p:txBody>
      </p:sp>
      <p:sp>
        <p:nvSpPr>
          <p:cNvPr id="6" name="slide-project_card__shape-3"/>
          <p:cNvSpPr/>
          <p:nvPr/>
        </p:nvSpPr>
        <p:spPr>
          <a:xfrm>
            <a:off x="495300" y="5581650"/>
            <a:ext cx="8763000" cy="390525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-project_card__highlight-card-3"/>
          <p:cNvSpPr/>
          <p:nvPr/>
        </p:nvSpPr>
        <p:spPr>
          <a:xfrm>
            <a:off x="495300" y="6048375"/>
            <a:ext cx="8763000" cy="39052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3350" rIns="133350" tIns="95250" bIns="952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8" name="slide-project_card__shape-4"/>
          <p:cNvSpPr/>
          <p:nvPr/>
        </p:nvSpPr>
        <p:spPr>
          <a:xfrm>
            <a:off x="495300" y="6048375"/>
            <a:ext cx="8763000" cy="390525"/>
          </a:xfrm>
          <a:prstGeom prst="roundRect">
            <a:avLst/>
          </a:prstGeom>
          <a:solidFill>
            <a:srgbClr val="064E3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-project_card__shape-5"/>
          <p:cNvSpPr/>
          <p:nvPr/>
        </p:nvSpPr>
        <p:spPr>
          <a:xfrm>
            <a:off x="9725025" y="0"/>
            <a:ext cx="2466975" cy="6858000"/>
          </a:xfrm>
          <a:prstGeom prst="rect">
            <a:avLst/>
          </a:prstGeom>
          <a:solidFill>
            <a:srgbClr val="042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-project_card__group"/>
          <p:cNvSpPr/>
          <p:nvPr/>
        </p:nvSpPr>
        <p:spPr>
          <a:xfrm>
            <a:off x="9953625" y="342900"/>
            <a:ext cx="2009775" cy="71913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52400" rIns="152400" tIns="133350" bIns="13335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역할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기간</a:t>
            </a:r>
          </a:p>
        </p:txBody>
      </p:sp>
      <p:sp>
        <p:nvSpPr>
          <p:cNvPr id="11" name="slide-project_card__shape-6"/>
          <p:cNvSpPr/>
          <p:nvPr/>
        </p:nvSpPr>
        <p:spPr>
          <a:xfrm>
            <a:off x="9953625" y="342900"/>
            <a:ext cx="2009775" cy="71913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ide-project_card__tech-chip"/>
          <p:cNvSpPr/>
          <p:nvPr/>
        </p:nvSpPr>
        <p:spPr>
          <a:xfrm>
            <a:off x="9953625" y="1328738"/>
            <a:ext cx="2009775" cy="3238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</p:txBody>
      </p:sp>
      <p:sp>
        <p:nvSpPr>
          <p:cNvPr id="13" name="slide-project_card__shape-7"/>
          <p:cNvSpPr/>
          <p:nvPr/>
        </p:nvSpPr>
        <p:spPr>
          <a:xfrm>
            <a:off x="9953625" y="1328738"/>
            <a:ext cx="2009775" cy="323850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lide-project_card__tech-chip-2"/>
          <p:cNvSpPr/>
          <p:nvPr/>
        </p:nvSpPr>
        <p:spPr>
          <a:xfrm>
            <a:off x="9953625" y="1728788"/>
            <a:ext cx="2009775" cy="3238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</p:txBody>
      </p:sp>
      <p:sp>
        <p:nvSpPr>
          <p:cNvPr id="15" name="slide-project_card__shape-8"/>
          <p:cNvSpPr/>
          <p:nvPr/>
        </p:nvSpPr>
        <p:spPr>
          <a:xfrm>
            <a:off x="9953625" y="1728788"/>
            <a:ext cx="2009775" cy="323850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lide-project_card__tech-chip-3"/>
          <p:cNvSpPr/>
          <p:nvPr/>
        </p:nvSpPr>
        <p:spPr>
          <a:xfrm>
            <a:off x="9953625" y="2128838"/>
            <a:ext cx="2009775" cy="3238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17" name="slide-project_card__shape-9"/>
          <p:cNvSpPr/>
          <p:nvPr/>
        </p:nvSpPr>
        <p:spPr>
          <a:xfrm>
            <a:off x="9953625" y="2128838"/>
            <a:ext cx="2009775" cy="323850"/>
          </a:xfrm>
          <a:prstGeom prst="roundRect">
            <a:avLst/>
          </a:prstGeom>
          <a:solidFill>
            <a:srgbClr val="065F46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ject-name-main"/>
          <p:cNvSpPr txBox="1"/>
          <p:nvPr/>
        </p:nvSpPr>
        <p:spPr>
          <a:xfrm>
            <a:off x="495300" y="419100"/>
            <a:ext cx="8763000" cy="4113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0" i="0" u="none">
                <a:solidFill>
                  <a:srgbClr val="ECFDF5"/>
                </a:solidFill>
                <a:latin typeface="Pretendard"/>
              </a:rPr>
              <a:t>프로젝트 이름</a:t>
            </a:r>
          </a:p>
        </p:txBody>
      </p:sp>
      <p:sp>
        <p:nvSpPr>
          <p:cNvPr id="19" name="summary-main"/>
          <p:cNvSpPr txBox="1"/>
          <p:nvPr/>
        </p:nvSpPr>
        <p:spPr>
          <a:xfrm>
            <a:off x="495300" y="1001911"/>
            <a:ext cx="8763000" cy="2513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00" b="0" i="0" u="none">
                <a:solidFill>
                  <a:srgbClr val="A7F3D0"/>
                </a:solidFill>
                <a:latin typeface="Pretendard"/>
              </a:rPr>
              <a:t>프로젝트에 대한 간략한 설명이 들어갑니다. 무엇을 만들었고, 어떤 문제를 해결했는지 서술합니다.</a:t>
            </a:r>
          </a:p>
        </p:txBody>
      </p:sp>
      <p:sp>
        <p:nvSpPr>
          <p:cNvPr id="20" name="slide-project_card__highlights"/>
          <p:cNvSpPr/>
          <p:nvPr/>
        </p:nvSpPr>
        <p:spPr>
          <a:xfrm>
            <a:off x="495300" y="5114925"/>
            <a:ext cx="8763000" cy="13239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1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2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주요 성과 3</a:t>
            </a:r>
          </a:p>
        </p:txBody>
      </p:sp>
      <p:sp>
        <p:nvSpPr>
          <p:cNvPr id="21" name="slide-project_card__highlight-text"/>
          <p:cNvSpPr txBox="1"/>
          <p:nvPr/>
        </p:nvSpPr>
        <p:spPr>
          <a:xfrm>
            <a:off x="628650" y="5210175"/>
            <a:ext cx="8496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1FAE5"/>
                </a:solidFill>
                <a:latin typeface="Pretendard"/>
              </a:rPr>
              <a:t>주요 성과 1</a:t>
            </a:r>
          </a:p>
        </p:txBody>
      </p:sp>
      <p:sp>
        <p:nvSpPr>
          <p:cNvPr id="22" name="slide-project_card__highlight-text-2"/>
          <p:cNvSpPr txBox="1"/>
          <p:nvPr/>
        </p:nvSpPr>
        <p:spPr>
          <a:xfrm>
            <a:off x="628650" y="5676900"/>
            <a:ext cx="8496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1FAE5"/>
                </a:solidFill>
                <a:latin typeface="Pretendard"/>
              </a:rPr>
              <a:t>주요 성과 2</a:t>
            </a:r>
          </a:p>
        </p:txBody>
      </p:sp>
      <p:sp>
        <p:nvSpPr>
          <p:cNvPr id="23" name="slide-project_card__highlight-text-3"/>
          <p:cNvSpPr txBox="1"/>
          <p:nvPr/>
        </p:nvSpPr>
        <p:spPr>
          <a:xfrm>
            <a:off x="628650" y="6143625"/>
            <a:ext cx="8496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400" b="0" i="0" u="none">
                <a:solidFill>
                  <a:srgbClr val="D1FAE5"/>
                </a:solidFill>
                <a:latin typeface="Pretendard"/>
              </a:rPr>
              <a:t>주요 성과 3</a:t>
            </a:r>
          </a:p>
        </p:txBody>
      </p:sp>
      <p:sp>
        <p:nvSpPr>
          <p:cNvPr id="24" name="role-main"/>
          <p:cNvSpPr txBox="1"/>
          <p:nvPr/>
        </p:nvSpPr>
        <p:spPr>
          <a:xfrm>
            <a:off x="10106025" y="476250"/>
            <a:ext cx="17049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EE7B7"/>
                </a:solidFill>
                <a:latin typeface="Pretendard"/>
              </a:rPr>
              <a:t>역할</a:t>
            </a:r>
          </a:p>
        </p:txBody>
      </p:sp>
      <p:sp>
        <p:nvSpPr>
          <p:cNvPr id="25" name="period-main"/>
          <p:cNvSpPr txBox="1"/>
          <p:nvPr/>
        </p:nvSpPr>
        <p:spPr>
          <a:xfrm>
            <a:off x="10106025" y="742950"/>
            <a:ext cx="1704975" cy="1857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0" i="0" u="none">
                <a:solidFill>
                  <a:srgbClr val="A7F3D0"/>
                </a:solidFill>
                <a:latin typeface="Pretendard"/>
              </a:rPr>
              <a:t>기간</a:t>
            </a:r>
          </a:p>
        </p:txBody>
      </p:sp>
      <p:sp>
        <p:nvSpPr>
          <p:cNvPr id="26" name="slide-project_card__tech-stack"/>
          <p:cNvSpPr/>
          <p:nvPr/>
        </p:nvSpPr>
        <p:spPr>
          <a:xfrm>
            <a:off x="9953625" y="1328738"/>
            <a:ext cx="2009775" cy="11239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/>
          <a:lstStyle/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Python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FastAPI</a:t>
            </a:r>
          </a:p>
          <a:p>
            <a:pPr algn="l">
              <a:lnSpc>
                <a:spcPts val="2400"/>
              </a:lnSpc>
            </a:pPr>
            <a:r>
              <a:rPr sz="1400" b="0" i="0" u="none">
                <a:latin typeface="맑은 고딕"/>
              </a:rPr>
              <a:t>React</a:t>
            </a:r>
          </a:p>
        </p:txBody>
      </p:sp>
      <p:sp>
        <p:nvSpPr>
          <p:cNvPr id="27" name="slide-project_card__chip-text"/>
          <p:cNvSpPr txBox="1"/>
          <p:nvPr/>
        </p:nvSpPr>
        <p:spPr>
          <a:xfrm>
            <a:off x="9953625" y="1328738"/>
            <a:ext cx="2009775" cy="323850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ECFDF5"/>
                </a:solidFill>
                <a:latin typeface="Pretendard"/>
              </a:rPr>
              <a:t>Python</a:t>
            </a:r>
          </a:p>
        </p:txBody>
      </p:sp>
      <p:sp>
        <p:nvSpPr>
          <p:cNvPr id="28" name="slide-project_card__chip-text-2"/>
          <p:cNvSpPr txBox="1"/>
          <p:nvPr/>
        </p:nvSpPr>
        <p:spPr>
          <a:xfrm>
            <a:off x="9953625" y="1728788"/>
            <a:ext cx="2009775" cy="323850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ECFDF5"/>
                </a:solidFill>
                <a:latin typeface="Pretendard"/>
              </a:rPr>
              <a:t>FastAPI</a:t>
            </a:r>
          </a:p>
        </p:txBody>
      </p:sp>
      <p:sp>
        <p:nvSpPr>
          <p:cNvPr id="29" name="slide-project_card__chip-text-3"/>
          <p:cNvSpPr txBox="1"/>
          <p:nvPr/>
        </p:nvSpPr>
        <p:spPr>
          <a:xfrm>
            <a:off x="9953625" y="2128838"/>
            <a:ext cx="2009775" cy="323850"/>
          </a:xfrm>
          <a:prstGeom prst="rect">
            <a:avLst/>
          </a:prstGeom>
          <a:noFill/>
        </p:spPr>
        <p:txBody>
          <a:bodyPr wrap="square" lIns="114300" rIns="114300" tIns="76200" bIns="7620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ECFDF5"/>
                </a:solidFill>
                <a:latin typeface="Pretendard"/>
              </a:rPr>
              <a:t>React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2E16"/>
            </a:gs>
            <a:gs pos="100000">
              <a:srgbClr val="064E3B"/>
            </a:gs>
          </a:gsLst>
          <a:lin scaled="0" ang="120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533400" y="457200"/>
            <a:ext cx="11125200" cy="4113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0" i="0" u="none">
                <a:solidFill>
                  <a:srgbClr val="ECFDF5"/>
                </a:solidFill>
                <a:latin typeface="Pretendard"/>
              </a:rPr>
              <a:t>핵심 지표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533400" y="944761"/>
            <a:ext cx="876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0" i="0" u="none">
                <a:solidFill>
                  <a:srgbClr val="6EE7B7"/>
                </a:solidFill>
                <a:latin typeface="Pretendard"/>
              </a:rPr>
              <a:t>
            포트폴리오에서 추출한 수치·비교 요약
        </a:t>
            </a:r>
          </a:p>
        </p:txBody>
      </p:sp>
      <p:pic>
        <p:nvPicPr>
          <p:cNvPr id="4" name="metrics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01961"/>
            <a:ext cx="11125200" cy="4673203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533400" y="6303764"/>
            <a:ext cx="111252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6EE7B7"/>
                </a:solidFill>
                <a:latin typeface="Pretendard"/>
              </a:rPr>
              <a:t>
        기준일·출처 등 짧은 주석
    </a:t>
            </a:r>
          </a:p>
        </p:txBody>
      </p:sp>
      <p:graphicFrame>
        <p:nvGraphicFramePr>
          <p:cNvPr id="6" name="table-main"/>
          <p:cNvGraphicFramePr>
            <a:graphicFrameLocks noGrp="1"/>
          </p:cNvGraphicFramePr>
          <p:nvPr/>
        </p:nvGraphicFramePr>
        <p:xfrm>
          <a:off x="533400" y="1401961"/>
          <a:ext cx="11125200" cy="4673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400"/>
                <a:gridCol w="3708400"/>
                <a:gridCol w="3708400"/>
              </a:tblGrid>
              <a:tr h="2336601"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A7F3D0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A7F3D0"/>
                          </a:solidFill>
                          <a:latin typeface="Pretendard"/>
                        </a:rPr>
                        <a:t>수치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90500" rIns="190500" tIns="133350" bIns="133350"/>
                    <a:lstStyle/>
                    <a:p>
                      <a:pPr algn="l"/>
                      <a:r>
                        <a:rPr sz="1300" b="1">
                          <a:solidFill>
                            <a:srgbClr val="A7F3D0"/>
                          </a:solidFill>
                          <a:latin typeface="Pretendard"/>
                        </a:rPr>
                        <a:t>설명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336602"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CFDF5"/>
                          </a:solidFill>
                          <a:latin typeface="Pretendard"/>
                        </a:rPr>
                        <a:t>예시 항목</a:t>
                      </a:r>
                    </a:p>
                  </a:txBody>
                  <a:tcPr>
                    <a:solidFill>
                      <a:srgbClr val="052E16"/>
                    </a:solidFill>
                  </a:tcPr>
                </a:tc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CFDF5"/>
                          </a:solidFill>
                          <a:latin typeface="Pretendard"/>
                        </a:rPr>
                        <a:t>42%</a:t>
                      </a:r>
                    </a:p>
                  </a:txBody>
                  <a:tcPr>
                    <a:solidFill>
                      <a:srgbClr val="052E16"/>
                    </a:solidFill>
                  </a:tcPr>
                </a:tc>
                <a:tc>
                  <a:txBody>
                    <a:bodyPr wrap="square" lIns="190500" rIns="190500" tIns="152400" bIns="152400"/>
                    <a:lstStyle/>
                    <a:p>
                      <a:pPr algn="l"/>
                      <a:r>
                        <a:rPr sz="1700" b="0">
                          <a:solidFill>
                            <a:srgbClr val="ECFDF5"/>
                          </a:solidFill>
                          <a:latin typeface="Pretendard"/>
                        </a:rPr>
                        <a:t>성과 지표</a:t>
                      </a:r>
                    </a:p>
                  </a:txBody>
                  <a:tcPr>
                    <a:solidFill>
                      <a:srgbClr val="052E1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95300" y="419100"/>
            <a:ext cx="11201400" cy="388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sz="3400" b="0" i="0" u="none">
                <a:solidFill>
                  <a:srgbClr val="ECFDF5"/>
                </a:solidFill>
                <a:latin typeface="Pretendard"/>
              </a:rPr>
              <a:t>비율 시각화</a:t>
            </a:r>
          </a:p>
        </p:txBody>
      </p:sp>
      <p:sp>
        <p:nvSpPr>
          <p:cNvPr id="3" name="subtitle-main"/>
          <p:cNvSpPr txBox="1"/>
          <p:nvPr/>
        </p:nvSpPr>
        <p:spPr>
          <a:xfrm>
            <a:off x="495300" y="864840"/>
            <a:ext cx="7620000" cy="207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0" i="0" u="none">
                <a:solidFill>
                  <a:srgbClr val="6EE7B7"/>
                </a:solidFill>
                <a:latin typeface="Pretendard"/>
              </a:rPr>
              <a:t>
            항목별 상대 크기 (최댓값 기준 100%)
        </a:t>
            </a:r>
          </a:p>
        </p:txBody>
      </p:sp>
      <p:pic>
        <p:nvPicPr>
          <p:cNvPr id="4" name="bar-pane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62509"/>
            <a:ext cx="9144000" cy="4888855"/>
          </a:xfrm>
          <a:prstGeom prst="rect">
            <a:avLst/>
          </a:prstGeom>
        </p:spPr>
      </p:pic>
      <p:sp>
        <p:nvSpPr>
          <p:cNvPr id="5" name="footnote-main"/>
          <p:cNvSpPr txBox="1"/>
          <p:nvPr/>
        </p:nvSpPr>
        <p:spPr>
          <a:xfrm>
            <a:off x="495300" y="6341864"/>
            <a:ext cx="11201400" cy="173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 i="0" u="none">
                <a:solidFill>
                  <a:srgbClr val="6EE7B7"/>
                </a:solidFill>
                <a:latin typeface="Pretendard"/>
              </a:rPr>
              <a:t>
        기준·단위 설명
    </a:t>
            </a:r>
          </a:p>
        </p:txBody>
      </p:sp>
      <p:graphicFrame>
        <p:nvGraphicFramePr>
          <p:cNvPr id="6" name="chart-main"/>
          <p:cNvGraphicFramePr>
            <a:graphicFrameLocks noGrp="1"/>
          </p:cNvGraphicFramePr>
          <p:nvPr/>
        </p:nvGraphicFramePr>
        <p:xfrm>
          <a:off x="1524000" y="1992362"/>
          <a:ext cx="9144000" cy="3429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-main"/>
          <p:cNvSpPr txBox="1"/>
          <p:nvPr/>
        </p:nvSpPr>
        <p:spPr>
          <a:xfrm>
            <a:off x="457200" y="209550"/>
            <a:ext cx="11277600" cy="371475"/>
          </a:xfrm>
          <a:prstGeom prst="rect">
            <a:avLst/>
          </a:prstGeom>
          <a:noFill/>
        </p:spPr>
        <p:txBody>
          <a:bodyPr wrap="square" lIns="133350" rIns="0" tIns="0" bIns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sz="2600" b="0" i="0" u="none">
                <a:solidFill>
                  <a:srgbClr val="ECFDF5"/>
                </a:solidFill>
                <a:latin typeface="Pretendard"/>
              </a:rPr>
              <a:t>섹션 제목</a:t>
            </a:r>
          </a:p>
        </p:txBody>
      </p:sp>
      <p:sp>
        <p:nvSpPr>
          <p:cNvPr id="3" name="tc-left-panel"/>
          <p:cNvSpPr/>
          <p:nvPr/>
        </p:nvSpPr>
        <p:spPr>
          <a:xfrm>
            <a:off x="0" y="800100"/>
            <a:ext cx="6029325" cy="5534025"/>
          </a:xfrm>
          <a:prstGeom prst="roundRect">
            <a:avLst/>
          </a:prstGeom>
          <a:solidFill>
            <a:srgbClr val="042F2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c-divid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325" y="800100"/>
            <a:ext cx="133350" cy="5534025"/>
          </a:xfrm>
          <a:prstGeom prst="rect">
            <a:avLst/>
          </a:prstGeom>
        </p:spPr>
      </p:pic>
      <p:sp>
        <p:nvSpPr>
          <p:cNvPr id="5" name="tc-right-panel"/>
          <p:cNvSpPr/>
          <p:nvPr/>
        </p:nvSpPr>
        <p:spPr>
          <a:xfrm>
            <a:off x="6162675" y="800100"/>
            <a:ext cx="6029325" cy="5534025"/>
          </a:xfrm>
          <a:prstGeom prst="roundRect">
            <a:avLst/>
          </a:prstGeom>
          <a:solidFill>
            <a:srgbClr val="042F2E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note-main"/>
          <p:cNvSpPr txBox="1"/>
          <p:nvPr/>
        </p:nvSpPr>
        <p:spPr>
          <a:xfrm>
            <a:off x="457200" y="6477000"/>
            <a:ext cx="11277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6EE7B7"/>
                </a:solidFill>
                <a:latin typeface="Pretendard"/>
              </a:rPr>
              <a:t>추가 참고 사항</a:t>
            </a:r>
          </a:p>
        </p:txBody>
      </p:sp>
      <p:sp>
        <p:nvSpPr>
          <p:cNvPr id="7" name="left-main"/>
          <p:cNvSpPr txBox="1"/>
          <p:nvPr/>
        </p:nvSpPr>
        <p:spPr>
          <a:xfrm>
            <a:off x="0" y="800100"/>
            <a:ext cx="6029325" cy="1247775"/>
          </a:xfrm>
          <a:prstGeom prst="rect">
            <a:avLst/>
          </a:prstGeom>
          <a:noFill/>
        </p:spPr>
        <p:txBody>
          <a:bodyPr wrap="square" lIns="457200" rIns="266700" tIns="304800" bIns="342900" anchor="t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A7F3D0"/>
                </a:solidFill>
                <a:latin typeface="Pretendard"/>
              </a:rPr>
              <a:t>좌측 컬럼에는 배경과 목표를 담고, 문제를 어떻게 바라봤는지 설명합니다.</a:t>
            </a:r>
          </a:p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A7F3D0"/>
                </a:solidFill>
                <a:latin typeface="Pretendard"/>
              </a:rPr>
              <a:t>의사결정 기준과 우선순위를 함께 정리할 수 있습니다.</a:t>
            </a:r>
          </a:p>
        </p:txBody>
      </p:sp>
      <p:sp>
        <p:nvSpPr>
          <p:cNvPr id="8" name="right-main"/>
          <p:cNvSpPr txBox="1"/>
          <p:nvPr/>
        </p:nvSpPr>
        <p:spPr>
          <a:xfrm>
            <a:off x="6162675" y="800100"/>
            <a:ext cx="6029325" cy="1247775"/>
          </a:xfrm>
          <a:prstGeom prst="rect">
            <a:avLst/>
          </a:prstGeom>
          <a:noFill/>
        </p:spPr>
        <p:txBody>
          <a:bodyPr wrap="square" lIns="266700" rIns="457200" tIns="304800" bIns="342900" anchor="t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D1FAE5"/>
                </a:solidFill>
                <a:latin typeface="Pretendard"/>
              </a:rPr>
              <a:t>우측 컬럼에는 솔루션 구성과 실행 결과를 배치합니다.</a:t>
            </a:r>
          </a:p>
          <a:p>
            <a:pPr algn="l">
              <a:lnSpc>
                <a:spcPts val="2550"/>
              </a:lnSpc>
              <a:spcAft>
                <a:spcPts val="1200"/>
              </a:spcAft>
            </a:pPr>
            <a:r>
              <a:rPr sz="1500" b="0" i="0" u="none">
                <a:solidFill>
                  <a:srgbClr val="D1FAE5"/>
                </a:solidFill>
                <a:latin typeface="Pretendard"/>
              </a:rPr>
              <a:t>협업 방식, 운영 포인트, 다음 액션도 자연스럽게 이어집니다.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2E16"/>
            </a:gs>
            <a:gs pos="100000">
              <a:srgbClr val="022C2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closing-forest-moss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ing-forest-moss__panel"/>
          <p:cNvSpPr/>
          <p:nvPr/>
        </p:nvSpPr>
        <p:spPr>
          <a:xfrm>
            <a:off x="838200" y="647700"/>
            <a:ext cx="10515600" cy="5562600"/>
          </a:xfrm>
          <a:prstGeom prst="roundRect">
            <a:avLst/>
          </a:prstGeom>
          <a:solidFill>
            <a:srgbClr val="042F2E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losing-forest-moss__acce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066800"/>
            <a:ext cx="76200" cy="4724400"/>
          </a:xfrm>
          <a:prstGeom prst="rect">
            <a:avLst/>
          </a:prstGeom>
        </p:spPr>
      </p:pic>
      <p:sp>
        <p:nvSpPr>
          <p:cNvPr id="5" name="message-main"/>
          <p:cNvSpPr txBox="1"/>
          <p:nvPr/>
        </p:nvSpPr>
        <p:spPr>
          <a:xfrm>
            <a:off x="5470327" y="2501950"/>
            <a:ext cx="894159" cy="613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440"/>
              </a:lnSpc>
            </a:pPr>
            <a:r>
              <a:rPr sz="5600" b="0" i="0" u="none">
                <a:solidFill>
                  <a:srgbClr val="ECFDF5"/>
                </a:solidFill>
                <a:latin typeface="Pretendard"/>
              </a:rPr>
              <a:t>감사합니다</a:t>
            </a:r>
          </a:p>
        </p:txBody>
      </p:sp>
      <p:sp>
        <p:nvSpPr>
          <p:cNvPr id="6" name="subtitle-main"/>
          <p:cNvSpPr txBox="1"/>
          <p:nvPr/>
        </p:nvSpPr>
        <p:spPr>
          <a:xfrm>
            <a:off x="5470327" y="3286720"/>
            <a:ext cx="125536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00"/>
              </a:lnSpc>
            </a:pPr>
            <a:r>
              <a:rPr sz="2000" b="0" i="0" u="none">
                <a:solidFill>
                  <a:srgbClr val="6EE7B7"/>
                </a:solidFill>
                <a:latin typeface="Pretendard"/>
              </a:rPr>
              <a:t>함께 일할 기회를 기다리고 있습니다</a:t>
            </a:r>
          </a:p>
        </p:txBody>
      </p:sp>
      <p:sp>
        <p:nvSpPr>
          <p:cNvPr id="7" name="contact-main"/>
          <p:cNvSpPr txBox="1"/>
          <p:nvPr/>
        </p:nvSpPr>
        <p:spPr>
          <a:xfrm>
            <a:off x="5470327" y="3915370"/>
            <a:ext cx="1899047" cy="440531"/>
          </a:xfrm>
          <a:prstGeom prst="rect">
            <a:avLst/>
          </a:prstGeom>
          <a:noFill/>
        </p:spPr>
        <p:txBody>
          <a:bodyPr wrap="square" lIns="247650" rIns="247650" tIns="114300" bIns="11430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500" b="0" i="0" u="none">
                <a:solidFill>
                  <a:srgbClr val="10B981"/>
                </a:solidFill>
                <a:latin typeface="Pretendard"/>
              </a:rPr>
              <a:t>email@example.com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22C22"/>
            </a:gs>
            <a:gs pos="100000">
              <a:srgbClr val="064E3B"/>
            </a:gs>
          </a:gsLst>
          <a:lin scaled="0" ang="156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quote-forest-moss__background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quote-forest-moss__panel"/>
          <p:cNvSpPr/>
          <p:nvPr/>
        </p:nvSpPr>
        <p:spPr>
          <a:xfrm>
            <a:off x="1066800" y="876300"/>
            <a:ext cx="10058400" cy="5105400"/>
          </a:xfrm>
          <a:prstGeom prst="roundRect">
            <a:avLst/>
          </a:prstGeom>
          <a:solidFill>
            <a:srgbClr val="042F2E"/>
          </a:solidFill>
          <a:ln w="9525">
            <a:solidFill>
              <a:srgbClr val="6EE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quote-forest-moss__rul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50" y="1276350"/>
            <a:ext cx="57150" cy="4286250"/>
          </a:xfrm>
          <a:prstGeom prst="rect">
            <a:avLst/>
          </a:prstGeom>
        </p:spPr>
      </p:pic>
      <p:sp>
        <p:nvSpPr>
          <p:cNvPr id="5" name="title-main"/>
          <p:cNvSpPr txBox="1"/>
          <p:nvPr/>
        </p:nvSpPr>
        <p:spPr>
          <a:xfrm>
            <a:off x="4832300" y="2811066"/>
            <a:ext cx="438894" cy="1361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0"/>
              </a:lnSpc>
            </a:pPr>
            <a:r>
              <a:rPr sz="1300" b="0" i="0" u="none">
                <a:solidFill>
                  <a:srgbClr val="34D399"/>
                </a:solidFill>
                <a:latin typeface="Pretendard"/>
              </a:rPr>
              <a:t>핵심 메시지</a:t>
            </a:r>
          </a:p>
        </p:txBody>
      </p:sp>
      <p:sp>
        <p:nvSpPr>
          <p:cNvPr id="6" name="quote-main"/>
          <p:cNvSpPr txBox="1"/>
          <p:nvPr/>
        </p:nvSpPr>
        <p:spPr>
          <a:xfrm>
            <a:off x="4832300" y="3118693"/>
            <a:ext cx="3232100" cy="4597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28"/>
              </a:lnSpc>
            </a:pPr>
            <a:r>
              <a:rPr sz="3400" b="0" i="0" u="none">
                <a:solidFill>
                  <a:srgbClr val="ECFDF5"/>
                </a:solidFill>
                <a:latin typeface="Pretendard"/>
              </a:rPr>
              <a:t>미션과 가치를 한 줄로 전달하는 인용문이 들어갑니다.</a:t>
            </a:r>
          </a:p>
        </p:txBody>
      </p:sp>
      <p:sp>
        <p:nvSpPr>
          <p:cNvPr id="7" name="attribution-main"/>
          <p:cNvSpPr txBox="1"/>
          <p:nvPr/>
        </p:nvSpPr>
        <p:spPr>
          <a:xfrm>
            <a:off x="4832300" y="3826073"/>
            <a:ext cx="306139" cy="2208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sz="1600" b="0" i="0" u="none">
                <a:solidFill>
                  <a:srgbClr val="6EE7B7"/>
                </a:solidFill>
                <a:latin typeface="Pretendard"/>
              </a:rPr>
              <a:t>— 출처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