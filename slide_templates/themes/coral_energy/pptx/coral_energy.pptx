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예시 A</c:v>
                </c:pt>
                <c:pt idx="1">
                  <c:v>예시 B</c:v>
                </c:pt>
                <c:pt idx="2">
                  <c:v>예시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80</c:v>
                </c:pt>
                <c:pt idx="2">
                  <c:v>45</c:v>
                </c:pt>
              </c:numCache>
            </c:numRef>
          </c:val>
        </c:ser>
        <c:dLbls>
          <c:numFmt formatCode="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C1917"/>
            </a:gs>
            <a:gs pos="100000">
              <a:srgbClr val="1C191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cover-coral-energy__back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over-coral-energy__accen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571500"/>
            <a:ext cx="133350" cy="5715000"/>
          </a:xfrm>
          <a:prstGeom prst="rect">
            <a:avLst/>
          </a:prstGeom>
        </p:spPr>
      </p:pic>
      <p:sp>
        <p:nvSpPr>
          <p:cNvPr id="4" name="cover-coral-energy__accent-2"/>
          <p:cNvSpPr/>
          <p:nvPr/>
        </p:nvSpPr>
        <p:spPr>
          <a:xfrm>
            <a:off x="10858500" y="5657850"/>
            <a:ext cx="209550" cy="20955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ver-coral-energy__panel"/>
          <p:cNvSpPr/>
          <p:nvPr/>
        </p:nvSpPr>
        <p:spPr>
          <a:xfrm>
            <a:off x="876300" y="419100"/>
            <a:ext cx="10782300" cy="6019800"/>
          </a:xfrm>
          <a:prstGeom prst="roundRect">
            <a:avLst/>
          </a:prstGeom>
          <a:solidFill>
            <a:srgbClr val="1C1917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tle-main"/>
          <p:cNvSpPr txBox="1"/>
          <p:nvPr/>
        </p:nvSpPr>
        <p:spPr>
          <a:xfrm>
            <a:off x="1257300" y="4518868"/>
            <a:ext cx="2968972" cy="565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940"/>
              </a:lnSpc>
            </a:pPr>
            <a:r>
              <a:rPr sz="5400" b="0" i="0" u="none">
                <a:solidFill>
                  <a:srgbClr val="FAFAF9"/>
                </a:solidFill>
                <a:latin typeface="Pretendard"/>
              </a:rPr>
              <a:t>프로젝트 제목이 여기에 들어갑니다</a:t>
            </a:r>
          </a:p>
        </p:txBody>
      </p:sp>
      <p:sp>
        <p:nvSpPr>
          <p:cNvPr id="7" name="subtitle-main"/>
          <p:cNvSpPr txBox="1"/>
          <p:nvPr/>
        </p:nvSpPr>
        <p:spPr>
          <a:xfrm>
            <a:off x="1257300" y="5275064"/>
            <a:ext cx="296897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sz="2000" b="0" i="0" u="none">
                <a:solidFill>
                  <a:srgbClr val="D6D3D1"/>
                </a:solidFill>
                <a:latin typeface="Pretendard"/>
              </a:rPr>
              <a:t>부제목 또는 한 줄 요약 설명</a:t>
            </a:r>
          </a:p>
        </p:txBody>
      </p:sp>
      <p:sp>
        <p:nvSpPr>
          <p:cNvPr id="8" name="author-main"/>
          <p:cNvSpPr txBox="1"/>
          <p:nvPr/>
        </p:nvSpPr>
        <p:spPr>
          <a:xfrm>
            <a:off x="1257300" y="5903714"/>
            <a:ext cx="2968972" cy="382786"/>
          </a:xfrm>
          <a:prstGeom prst="rect">
            <a:avLst/>
          </a:prstGeom>
          <a:noFill/>
        </p:spPr>
        <p:txBody>
          <a:bodyPr wrap="square" lIns="209550" rIns="209550" tIns="95250" bIns="9525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 i="0" u="none">
                <a:solidFill>
                  <a:srgbClr val="FEF3C7"/>
                </a:solidFill>
                <a:latin typeface="Pretendard"/>
              </a:rPr>
              <a:t>작성자명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C1917"/>
            </a:gs>
            <a:gs pos="100000">
              <a:srgbClr val="0C0A09"/>
            </a:gs>
          </a:gsLst>
          <a:lin scaled="0" ang="11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-main"/>
          <p:cNvSpPr txBox="1"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0" i="0" u="none">
                <a:solidFill>
                  <a:srgbClr val="FAFAF9"/>
                </a:solidFill>
                <a:latin typeface="Pretendard"/>
              </a:rPr>
              <a:t>기술 스택</a:t>
            </a:r>
          </a:p>
        </p:txBody>
      </p:sp>
      <p:sp>
        <p:nvSpPr>
          <p:cNvPr id="3" name="slide-skills__skill-group"/>
          <p:cNvSpPr/>
          <p:nvPr/>
        </p:nvSpPr>
        <p:spPr>
          <a:xfrm>
            <a:off x="457200" y="1009650"/>
            <a:ext cx="6401991" cy="5429250"/>
          </a:xfrm>
          <a:prstGeom prst="rect">
            <a:avLst/>
          </a:prstGeom>
          <a:solidFill>
            <a:srgbClr val="000000"/>
          </a:solidFill>
          <a:ln w="952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71450" rIns="171450" tIns="190500" bIns="1905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Frontend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React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TypeScript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Next.js</a:t>
            </a:r>
          </a:p>
        </p:txBody>
      </p:sp>
      <p:pic>
        <p:nvPicPr>
          <p:cNvPr id="4" name="slide-skills__shap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1019175"/>
            <a:ext cx="6382941" cy="5410200"/>
          </a:xfrm>
          <a:prstGeom prst="rect">
            <a:avLst/>
          </a:prstGeom>
        </p:spPr>
      </p:pic>
      <p:sp>
        <p:nvSpPr>
          <p:cNvPr id="5" name="slide-skills__skill-chip"/>
          <p:cNvSpPr/>
          <p:nvPr/>
        </p:nvSpPr>
        <p:spPr>
          <a:xfrm>
            <a:off x="638175" y="1514475"/>
            <a:ext cx="565993" cy="3381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React</a:t>
            </a:r>
          </a:p>
        </p:txBody>
      </p:sp>
      <p:sp>
        <p:nvSpPr>
          <p:cNvPr id="6" name="slide-skills__shape-2"/>
          <p:cNvSpPr/>
          <p:nvPr/>
        </p:nvSpPr>
        <p:spPr>
          <a:xfrm>
            <a:off x="638175" y="1514475"/>
            <a:ext cx="565993" cy="338138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ide-skills__skill-chip-2"/>
          <p:cNvSpPr/>
          <p:nvPr/>
        </p:nvSpPr>
        <p:spPr>
          <a:xfrm>
            <a:off x="1280368" y="1514475"/>
            <a:ext cx="859334" cy="3381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TypeScript</a:t>
            </a:r>
          </a:p>
        </p:txBody>
      </p:sp>
      <p:sp>
        <p:nvSpPr>
          <p:cNvPr id="8" name="slide-skills__shape-3"/>
          <p:cNvSpPr/>
          <p:nvPr/>
        </p:nvSpPr>
        <p:spPr>
          <a:xfrm>
            <a:off x="1280368" y="1514475"/>
            <a:ext cx="859334" cy="338138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lide-skills__skill-chip-3"/>
          <p:cNvSpPr/>
          <p:nvPr/>
        </p:nvSpPr>
        <p:spPr>
          <a:xfrm>
            <a:off x="2215902" y="1514475"/>
            <a:ext cx="634752" cy="3381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Next.js</a:t>
            </a:r>
          </a:p>
        </p:txBody>
      </p:sp>
      <p:sp>
        <p:nvSpPr>
          <p:cNvPr id="10" name="slide-skills__shape-4"/>
          <p:cNvSpPr/>
          <p:nvPr/>
        </p:nvSpPr>
        <p:spPr>
          <a:xfrm>
            <a:off x="2215902" y="1514475"/>
            <a:ext cx="634752" cy="338138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lide-skills__skill-group-2"/>
          <p:cNvSpPr/>
          <p:nvPr/>
        </p:nvSpPr>
        <p:spPr>
          <a:xfrm>
            <a:off x="6992541" y="1009650"/>
            <a:ext cx="4742259" cy="2647950"/>
          </a:xfrm>
          <a:prstGeom prst="rect">
            <a:avLst/>
          </a:prstGeom>
          <a:solidFill>
            <a:srgbClr val="000000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71450" rIns="171450" tIns="190500" bIns="1905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Backend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Python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FastAPI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Node.js</a:t>
            </a:r>
          </a:p>
        </p:txBody>
      </p:sp>
      <p:sp>
        <p:nvSpPr>
          <p:cNvPr id="12" name="slide-skills__shape-5"/>
          <p:cNvSpPr/>
          <p:nvPr/>
        </p:nvSpPr>
        <p:spPr>
          <a:xfrm>
            <a:off x="7002066" y="1019175"/>
            <a:ext cx="4723209" cy="2628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lide-skills__skill-chip-4"/>
          <p:cNvSpPr/>
          <p:nvPr/>
        </p:nvSpPr>
        <p:spPr>
          <a:xfrm>
            <a:off x="7173516" y="1514475"/>
            <a:ext cx="648295" cy="3381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Python</a:t>
            </a:r>
          </a:p>
        </p:txBody>
      </p:sp>
      <p:sp>
        <p:nvSpPr>
          <p:cNvPr id="14" name="slide-skills__shape-6"/>
          <p:cNvSpPr/>
          <p:nvPr/>
        </p:nvSpPr>
        <p:spPr>
          <a:xfrm>
            <a:off x="7173516" y="1514475"/>
            <a:ext cx="648295" cy="338138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lide-skills__skill-chip-5"/>
          <p:cNvSpPr/>
          <p:nvPr/>
        </p:nvSpPr>
        <p:spPr>
          <a:xfrm>
            <a:off x="7898011" y="1514475"/>
            <a:ext cx="689670" cy="3381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FastAPI</a:t>
            </a:r>
          </a:p>
        </p:txBody>
      </p:sp>
      <p:sp>
        <p:nvSpPr>
          <p:cNvPr id="16" name="slide-skills__shape-7"/>
          <p:cNvSpPr/>
          <p:nvPr/>
        </p:nvSpPr>
        <p:spPr>
          <a:xfrm>
            <a:off x="7898011" y="1514475"/>
            <a:ext cx="689670" cy="338138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lide-skills__skill-chip-6"/>
          <p:cNvSpPr/>
          <p:nvPr/>
        </p:nvSpPr>
        <p:spPr>
          <a:xfrm>
            <a:off x="8663880" y="1514475"/>
            <a:ext cx="675977" cy="3381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Node.js</a:t>
            </a:r>
          </a:p>
        </p:txBody>
      </p:sp>
      <p:sp>
        <p:nvSpPr>
          <p:cNvPr id="18" name="slide-skills__shape-8"/>
          <p:cNvSpPr/>
          <p:nvPr/>
        </p:nvSpPr>
        <p:spPr>
          <a:xfrm>
            <a:off x="8663880" y="1514475"/>
            <a:ext cx="675977" cy="338138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lide-skills__skill-group-3"/>
          <p:cNvSpPr/>
          <p:nvPr/>
        </p:nvSpPr>
        <p:spPr>
          <a:xfrm>
            <a:off x="6992541" y="3790950"/>
            <a:ext cx="4742259" cy="2647950"/>
          </a:xfrm>
          <a:prstGeom prst="rect">
            <a:avLst/>
          </a:prstGeom>
          <a:solidFill>
            <a:srgbClr val="000000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71450" rIns="171450" tIns="190500" bIns="1905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DevOps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Docker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AWS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GitHub Actions</a:t>
            </a:r>
          </a:p>
        </p:txBody>
      </p:sp>
      <p:sp>
        <p:nvSpPr>
          <p:cNvPr id="20" name="slide-skills__shape-9"/>
          <p:cNvSpPr/>
          <p:nvPr/>
        </p:nvSpPr>
        <p:spPr>
          <a:xfrm>
            <a:off x="7002066" y="3800475"/>
            <a:ext cx="4723209" cy="2628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lide-skills__skill-chip-7"/>
          <p:cNvSpPr/>
          <p:nvPr/>
        </p:nvSpPr>
        <p:spPr>
          <a:xfrm>
            <a:off x="7173516" y="4295775"/>
            <a:ext cx="648444" cy="3381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Docker</a:t>
            </a:r>
          </a:p>
        </p:txBody>
      </p:sp>
      <p:sp>
        <p:nvSpPr>
          <p:cNvPr id="22" name="slide-skills__shape-10"/>
          <p:cNvSpPr/>
          <p:nvPr/>
        </p:nvSpPr>
        <p:spPr>
          <a:xfrm>
            <a:off x="7173516" y="4295775"/>
            <a:ext cx="648444" cy="338138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lide-skills__skill-chip-8"/>
          <p:cNvSpPr/>
          <p:nvPr/>
        </p:nvSpPr>
        <p:spPr>
          <a:xfrm>
            <a:off x="7898160" y="4295775"/>
            <a:ext cx="510778" cy="3381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AWS</a:t>
            </a:r>
          </a:p>
        </p:txBody>
      </p:sp>
      <p:sp>
        <p:nvSpPr>
          <p:cNvPr id="24" name="slide-skills__shape-11"/>
          <p:cNvSpPr/>
          <p:nvPr/>
        </p:nvSpPr>
        <p:spPr>
          <a:xfrm>
            <a:off x="7898160" y="4295775"/>
            <a:ext cx="510778" cy="338138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lide-skills__skill-chip-9"/>
          <p:cNvSpPr/>
          <p:nvPr/>
        </p:nvSpPr>
        <p:spPr>
          <a:xfrm>
            <a:off x="8485138" y="4295775"/>
            <a:ext cx="1125141" cy="3381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GitHub Actions</a:t>
            </a:r>
          </a:p>
        </p:txBody>
      </p:sp>
      <p:sp>
        <p:nvSpPr>
          <p:cNvPr id="26" name="slide-skills__shape-12"/>
          <p:cNvSpPr/>
          <p:nvPr/>
        </p:nvSpPr>
        <p:spPr>
          <a:xfrm>
            <a:off x="8485138" y="4295775"/>
            <a:ext cx="1125141" cy="338138"/>
          </a:xfrm>
          <a:prstGeom prst="roundRect">
            <a:avLst/>
          </a:prstGeom>
          <a:solidFill>
            <a:srgbClr val="000000"/>
          </a:solidFill>
          <a:ln w="952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lide-skills__group-title"/>
          <p:cNvSpPr txBox="1"/>
          <p:nvPr/>
        </p:nvSpPr>
        <p:spPr>
          <a:xfrm>
            <a:off x="638175" y="1209675"/>
            <a:ext cx="6040041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DBA74"/>
                </a:solidFill>
                <a:latin typeface="Pretendard"/>
              </a:rPr>
              <a:t>Frontend</a:t>
            </a:r>
          </a:p>
        </p:txBody>
      </p:sp>
      <p:sp>
        <p:nvSpPr>
          <p:cNvPr id="28" name="slide-skills__group"/>
          <p:cNvSpPr/>
          <p:nvPr/>
        </p:nvSpPr>
        <p:spPr>
          <a:xfrm>
            <a:off x="638175" y="1514475"/>
            <a:ext cx="6040041" cy="472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React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TypeScript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Next.js</a:t>
            </a:r>
          </a:p>
        </p:txBody>
      </p:sp>
      <p:sp>
        <p:nvSpPr>
          <p:cNvPr id="29" name="slide-skills__chip-text"/>
          <p:cNvSpPr txBox="1"/>
          <p:nvPr/>
        </p:nvSpPr>
        <p:spPr>
          <a:xfrm>
            <a:off x="638175" y="1514475"/>
            <a:ext cx="565993" cy="338138"/>
          </a:xfrm>
          <a:prstGeom prst="rect">
            <a:avLst/>
          </a:prstGeom>
          <a:noFill/>
        </p:spPr>
        <p:txBody>
          <a:bodyPr wrap="square" lIns="114300" rIns="114300" tIns="76200" bIns="762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FFEDD5"/>
                </a:solidFill>
                <a:latin typeface="Pretendard"/>
              </a:rPr>
              <a:t>React</a:t>
            </a:r>
          </a:p>
        </p:txBody>
      </p:sp>
      <p:sp>
        <p:nvSpPr>
          <p:cNvPr id="30" name="slide-skills__chip-text-2"/>
          <p:cNvSpPr txBox="1"/>
          <p:nvPr/>
        </p:nvSpPr>
        <p:spPr>
          <a:xfrm>
            <a:off x="1280368" y="1514475"/>
            <a:ext cx="859334" cy="338138"/>
          </a:xfrm>
          <a:prstGeom prst="rect">
            <a:avLst/>
          </a:prstGeom>
          <a:noFill/>
        </p:spPr>
        <p:txBody>
          <a:bodyPr wrap="square" lIns="114300" rIns="114300" tIns="76200" bIns="762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FFEDD5"/>
                </a:solidFill>
                <a:latin typeface="Pretendard"/>
              </a:rPr>
              <a:t>TypeScript</a:t>
            </a:r>
          </a:p>
        </p:txBody>
      </p:sp>
      <p:sp>
        <p:nvSpPr>
          <p:cNvPr id="31" name="slide-skills__chip-text-3"/>
          <p:cNvSpPr txBox="1"/>
          <p:nvPr/>
        </p:nvSpPr>
        <p:spPr>
          <a:xfrm>
            <a:off x="2215902" y="1514475"/>
            <a:ext cx="634752" cy="338138"/>
          </a:xfrm>
          <a:prstGeom prst="rect">
            <a:avLst/>
          </a:prstGeom>
          <a:noFill/>
        </p:spPr>
        <p:txBody>
          <a:bodyPr wrap="square" lIns="114300" rIns="114300" tIns="76200" bIns="762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FFEDD5"/>
                </a:solidFill>
                <a:latin typeface="Pretendard"/>
              </a:rPr>
              <a:t>Next.js</a:t>
            </a:r>
          </a:p>
        </p:txBody>
      </p:sp>
      <p:sp>
        <p:nvSpPr>
          <p:cNvPr id="32" name="slide-skills__group-title-2"/>
          <p:cNvSpPr txBox="1"/>
          <p:nvPr/>
        </p:nvSpPr>
        <p:spPr>
          <a:xfrm>
            <a:off x="7173516" y="1209675"/>
            <a:ext cx="438030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DBA74"/>
                </a:solidFill>
                <a:latin typeface="Pretendard"/>
              </a:rPr>
              <a:t>Backend</a:t>
            </a:r>
          </a:p>
        </p:txBody>
      </p:sp>
      <p:sp>
        <p:nvSpPr>
          <p:cNvPr id="33" name="slide-skills__group-2"/>
          <p:cNvSpPr/>
          <p:nvPr/>
        </p:nvSpPr>
        <p:spPr>
          <a:xfrm>
            <a:off x="7173516" y="1514475"/>
            <a:ext cx="4380309" cy="1943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Python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FastAPI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Node.js</a:t>
            </a:r>
          </a:p>
        </p:txBody>
      </p:sp>
      <p:sp>
        <p:nvSpPr>
          <p:cNvPr id="34" name="slide-skills__chip-text-4"/>
          <p:cNvSpPr txBox="1"/>
          <p:nvPr/>
        </p:nvSpPr>
        <p:spPr>
          <a:xfrm>
            <a:off x="7173516" y="1514475"/>
            <a:ext cx="648295" cy="338138"/>
          </a:xfrm>
          <a:prstGeom prst="rect">
            <a:avLst/>
          </a:prstGeom>
          <a:noFill/>
        </p:spPr>
        <p:txBody>
          <a:bodyPr wrap="square" lIns="114300" rIns="114300" tIns="76200" bIns="762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FFEDD5"/>
                </a:solidFill>
                <a:latin typeface="Pretendard"/>
              </a:rPr>
              <a:t>Python</a:t>
            </a:r>
          </a:p>
        </p:txBody>
      </p:sp>
      <p:sp>
        <p:nvSpPr>
          <p:cNvPr id="35" name="slide-skills__chip-text-5"/>
          <p:cNvSpPr txBox="1"/>
          <p:nvPr/>
        </p:nvSpPr>
        <p:spPr>
          <a:xfrm>
            <a:off x="7898011" y="1514475"/>
            <a:ext cx="689670" cy="338138"/>
          </a:xfrm>
          <a:prstGeom prst="rect">
            <a:avLst/>
          </a:prstGeom>
          <a:noFill/>
        </p:spPr>
        <p:txBody>
          <a:bodyPr wrap="square" lIns="114300" rIns="114300" tIns="76200" bIns="762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FFEDD5"/>
                </a:solidFill>
                <a:latin typeface="Pretendard"/>
              </a:rPr>
              <a:t>FastAPI</a:t>
            </a:r>
          </a:p>
        </p:txBody>
      </p:sp>
      <p:sp>
        <p:nvSpPr>
          <p:cNvPr id="36" name="slide-skills__chip-text-6"/>
          <p:cNvSpPr txBox="1"/>
          <p:nvPr/>
        </p:nvSpPr>
        <p:spPr>
          <a:xfrm>
            <a:off x="8663880" y="1514475"/>
            <a:ext cx="675977" cy="338138"/>
          </a:xfrm>
          <a:prstGeom prst="rect">
            <a:avLst/>
          </a:prstGeom>
          <a:noFill/>
        </p:spPr>
        <p:txBody>
          <a:bodyPr wrap="square" lIns="114300" rIns="114300" tIns="76200" bIns="762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FFEDD5"/>
                </a:solidFill>
                <a:latin typeface="Pretendard"/>
              </a:rPr>
              <a:t>Node.js</a:t>
            </a:r>
          </a:p>
        </p:txBody>
      </p:sp>
      <p:sp>
        <p:nvSpPr>
          <p:cNvPr id="37" name="slide-skills__group-title-3"/>
          <p:cNvSpPr txBox="1"/>
          <p:nvPr/>
        </p:nvSpPr>
        <p:spPr>
          <a:xfrm>
            <a:off x="7173516" y="3990975"/>
            <a:ext cx="438030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DBA74"/>
                </a:solidFill>
                <a:latin typeface="Pretendard"/>
              </a:rPr>
              <a:t>DevOps</a:t>
            </a:r>
          </a:p>
        </p:txBody>
      </p:sp>
      <p:sp>
        <p:nvSpPr>
          <p:cNvPr id="38" name="slide-skills__group-3"/>
          <p:cNvSpPr/>
          <p:nvPr/>
        </p:nvSpPr>
        <p:spPr>
          <a:xfrm>
            <a:off x="7173516" y="4295775"/>
            <a:ext cx="4380309" cy="1943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Docker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AWS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GitHub Actions</a:t>
            </a:r>
          </a:p>
        </p:txBody>
      </p:sp>
      <p:sp>
        <p:nvSpPr>
          <p:cNvPr id="39" name="slide-skills__chip-text-7"/>
          <p:cNvSpPr txBox="1"/>
          <p:nvPr/>
        </p:nvSpPr>
        <p:spPr>
          <a:xfrm>
            <a:off x="7173516" y="4295775"/>
            <a:ext cx="648444" cy="338138"/>
          </a:xfrm>
          <a:prstGeom prst="rect">
            <a:avLst/>
          </a:prstGeom>
          <a:noFill/>
        </p:spPr>
        <p:txBody>
          <a:bodyPr wrap="square" lIns="114300" rIns="114300" tIns="76200" bIns="762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FFEDD5"/>
                </a:solidFill>
                <a:latin typeface="Pretendard"/>
              </a:rPr>
              <a:t>Docker</a:t>
            </a:r>
          </a:p>
        </p:txBody>
      </p:sp>
      <p:sp>
        <p:nvSpPr>
          <p:cNvPr id="40" name="slide-skills__chip-text-8"/>
          <p:cNvSpPr txBox="1"/>
          <p:nvPr/>
        </p:nvSpPr>
        <p:spPr>
          <a:xfrm>
            <a:off x="7898160" y="4295775"/>
            <a:ext cx="510778" cy="338138"/>
          </a:xfrm>
          <a:prstGeom prst="rect">
            <a:avLst/>
          </a:prstGeom>
          <a:noFill/>
        </p:spPr>
        <p:txBody>
          <a:bodyPr wrap="square" lIns="114300" rIns="114300" tIns="76200" bIns="762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FFEDD5"/>
                </a:solidFill>
                <a:latin typeface="Pretendard"/>
              </a:rPr>
              <a:t>AWS</a:t>
            </a:r>
          </a:p>
        </p:txBody>
      </p:sp>
      <p:sp>
        <p:nvSpPr>
          <p:cNvPr id="41" name="slide-skills__chip-text-9"/>
          <p:cNvSpPr txBox="1"/>
          <p:nvPr/>
        </p:nvSpPr>
        <p:spPr>
          <a:xfrm>
            <a:off x="8485138" y="4295775"/>
            <a:ext cx="1125141" cy="338138"/>
          </a:xfrm>
          <a:prstGeom prst="rect">
            <a:avLst/>
          </a:prstGeom>
          <a:noFill/>
        </p:spPr>
        <p:txBody>
          <a:bodyPr wrap="square" lIns="114300" rIns="114300" tIns="76200" bIns="762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FFEDD5"/>
                </a:solidFill>
                <a:latin typeface="Pretendard"/>
              </a:rPr>
              <a:t>GitHub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C1917"/>
            </a:gs>
            <a:gs pos="100000">
              <a:srgbClr val="292524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-main"/>
          <p:cNvSpPr txBox="1"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0" i="0" u="none">
                <a:solidFill>
                  <a:srgbClr val="FAFAF9"/>
                </a:solidFill>
                <a:latin typeface="Pretendard"/>
              </a:rPr>
              <a:t>경력 타임라인</a:t>
            </a:r>
          </a:p>
        </p:txBody>
      </p:sp>
      <p:pic>
        <p:nvPicPr>
          <p:cNvPr id="3" name="slide-timeline__track-lin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1712" y="1009650"/>
            <a:ext cx="28575" cy="5429250"/>
          </a:xfrm>
          <a:prstGeom prst="rect">
            <a:avLst/>
          </a:prstGeom>
        </p:spPr>
      </p:pic>
      <p:sp>
        <p:nvSpPr>
          <p:cNvPr id="4" name="slide-timeline__timeline-item"/>
          <p:cNvSpPr/>
          <p:nvPr/>
        </p:nvSpPr>
        <p:spPr>
          <a:xfrm>
            <a:off x="6229350" y="1009650"/>
            <a:ext cx="2486025" cy="9661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2024.01 ~ 현재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프로덕트 엔지니어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핵심 퍼널 개선과 운영 자동화를 주도했습니다.</a:t>
            </a:r>
          </a:p>
        </p:txBody>
      </p:sp>
      <p:sp>
        <p:nvSpPr>
          <p:cNvPr id="5" name="slide-timeline__group"/>
          <p:cNvSpPr/>
          <p:nvPr/>
        </p:nvSpPr>
        <p:spPr>
          <a:xfrm>
            <a:off x="6229350" y="1009650"/>
            <a:ext cx="2486025" cy="9661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71450" rIns="171450" tIns="152400" bIns="1524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2024.01 ~ 현재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프로덕트 엔지니어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핵심 퍼널 개선과 운영 자동화를 주도했습니다.</a:t>
            </a:r>
          </a:p>
        </p:txBody>
      </p:sp>
      <p:sp>
        <p:nvSpPr>
          <p:cNvPr id="6" name="slide-timeline__shape"/>
          <p:cNvSpPr/>
          <p:nvPr/>
        </p:nvSpPr>
        <p:spPr>
          <a:xfrm>
            <a:off x="6229350" y="1009650"/>
            <a:ext cx="2486025" cy="966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ide-timeline__timeline-item-2"/>
          <p:cNvSpPr/>
          <p:nvPr/>
        </p:nvSpPr>
        <p:spPr>
          <a:xfrm>
            <a:off x="3476625" y="3781425"/>
            <a:ext cx="2486025" cy="9661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2022.03 ~ 2023.12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서비스 개발자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사용자 여정 분석과 신규 기능 론칭을 맡았습니다.</a:t>
            </a:r>
          </a:p>
        </p:txBody>
      </p:sp>
      <p:sp>
        <p:nvSpPr>
          <p:cNvPr id="8" name="slide-timeline__group-2"/>
          <p:cNvSpPr/>
          <p:nvPr/>
        </p:nvSpPr>
        <p:spPr>
          <a:xfrm>
            <a:off x="3476625" y="3781425"/>
            <a:ext cx="2486025" cy="9661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71450" rIns="171450" tIns="152400" bIns="1524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2022.03 ~ 2023.12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서비스 개발자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사용자 여정 분석과 신규 기능 론칭을 맡았습니다.</a:t>
            </a:r>
          </a:p>
        </p:txBody>
      </p:sp>
      <p:sp>
        <p:nvSpPr>
          <p:cNvPr id="9" name="slide-timeline__shape-2"/>
          <p:cNvSpPr/>
          <p:nvPr/>
        </p:nvSpPr>
        <p:spPr>
          <a:xfrm>
            <a:off x="3476625" y="3781425"/>
            <a:ext cx="2486025" cy="966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lide-timeline__timeline-item-3"/>
          <p:cNvSpPr/>
          <p:nvPr/>
        </p:nvSpPr>
        <p:spPr>
          <a:xfrm>
            <a:off x="6229350" y="3781425"/>
            <a:ext cx="2486025" cy="9661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2021.09 ~ 2022.02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인턴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실험용 랜딩 페이지와 내부 툴을 제작했습니다.</a:t>
            </a:r>
          </a:p>
        </p:txBody>
      </p:sp>
      <p:sp>
        <p:nvSpPr>
          <p:cNvPr id="11" name="slide-timeline__group-3"/>
          <p:cNvSpPr/>
          <p:nvPr/>
        </p:nvSpPr>
        <p:spPr>
          <a:xfrm>
            <a:off x="6229350" y="3781425"/>
            <a:ext cx="2486025" cy="9661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71450" rIns="171450" tIns="152400" bIns="1524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2021.09 ~ 2022.02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인턴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실험용 랜딩 페이지와 내부 툴을 제작했습니다.</a:t>
            </a:r>
          </a:p>
        </p:txBody>
      </p:sp>
      <p:sp>
        <p:nvSpPr>
          <p:cNvPr id="12" name="slide-timeline__shape-3"/>
          <p:cNvSpPr/>
          <p:nvPr/>
        </p:nvSpPr>
        <p:spPr>
          <a:xfrm>
            <a:off x="6229350" y="3781425"/>
            <a:ext cx="2486025" cy="9661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-timeline__do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75" y="1181100"/>
            <a:ext cx="133350" cy="133350"/>
          </a:xfrm>
          <a:prstGeom prst="rect">
            <a:avLst/>
          </a:prstGeom>
        </p:spPr>
      </p:pic>
      <p:sp>
        <p:nvSpPr>
          <p:cNvPr id="14" name="slide-timeline__date"/>
          <p:cNvSpPr txBox="1"/>
          <p:nvPr/>
        </p:nvSpPr>
        <p:spPr>
          <a:xfrm>
            <a:off x="6400800" y="1162050"/>
            <a:ext cx="2143125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i="0" u="none">
                <a:solidFill>
                  <a:srgbClr val="FDBA74"/>
                </a:solidFill>
                <a:latin typeface="Pretendard"/>
              </a:rPr>
              <a:t>2024.01 ~ 현재</a:t>
            </a:r>
          </a:p>
        </p:txBody>
      </p:sp>
      <p:sp>
        <p:nvSpPr>
          <p:cNvPr id="15" name="slide-timeline__item-title"/>
          <p:cNvSpPr txBox="1"/>
          <p:nvPr/>
        </p:nvSpPr>
        <p:spPr>
          <a:xfrm>
            <a:off x="6400800" y="1376362"/>
            <a:ext cx="21431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 i="0" u="none">
                <a:solidFill>
                  <a:srgbClr val="FFF7ED"/>
                </a:solidFill>
                <a:latin typeface="Pretendard"/>
              </a:rPr>
              <a:t>프로덕트 엔지니어</a:t>
            </a:r>
          </a:p>
        </p:txBody>
      </p:sp>
      <p:sp>
        <p:nvSpPr>
          <p:cNvPr id="16" name="slide-timeline__item-body"/>
          <p:cNvSpPr txBox="1"/>
          <p:nvPr/>
        </p:nvSpPr>
        <p:spPr>
          <a:xfrm>
            <a:off x="6400800" y="1631603"/>
            <a:ext cx="21431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14"/>
              </a:lnSpc>
            </a:pPr>
            <a:r>
              <a:rPr sz="1300" b="0" i="0" u="none">
                <a:solidFill>
                  <a:srgbClr val="D6D3D1"/>
                </a:solidFill>
                <a:latin typeface="Pretendard"/>
              </a:rPr>
              <a:t>핵심 퍼널 개선과 운영 자동화를 주도했습니다.</a:t>
            </a:r>
          </a:p>
        </p:txBody>
      </p:sp>
      <p:pic>
        <p:nvPicPr>
          <p:cNvPr id="17" name="slide-timeline__dot-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3952875"/>
            <a:ext cx="133350" cy="133350"/>
          </a:xfrm>
          <a:prstGeom prst="rect">
            <a:avLst/>
          </a:prstGeom>
        </p:spPr>
      </p:pic>
      <p:sp>
        <p:nvSpPr>
          <p:cNvPr id="18" name="slide-timeline__date-2"/>
          <p:cNvSpPr txBox="1"/>
          <p:nvPr/>
        </p:nvSpPr>
        <p:spPr>
          <a:xfrm>
            <a:off x="3648075" y="3933825"/>
            <a:ext cx="2143125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sz="1100" b="0" i="0" u="none">
                <a:solidFill>
                  <a:srgbClr val="FDBA74"/>
                </a:solidFill>
                <a:latin typeface="Pretendard"/>
              </a:rPr>
              <a:t>2022.03 ~ 2023.12</a:t>
            </a:r>
          </a:p>
        </p:txBody>
      </p:sp>
      <p:sp>
        <p:nvSpPr>
          <p:cNvPr id="19" name="slide-timeline__item-title-2"/>
          <p:cNvSpPr txBox="1"/>
          <p:nvPr/>
        </p:nvSpPr>
        <p:spPr>
          <a:xfrm>
            <a:off x="3648075" y="4148138"/>
            <a:ext cx="21431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80"/>
              </a:lnSpc>
            </a:pPr>
            <a:r>
              <a:rPr sz="1600" b="0" i="0" u="none">
                <a:solidFill>
                  <a:srgbClr val="FFF7ED"/>
                </a:solidFill>
                <a:latin typeface="Pretendard"/>
              </a:rPr>
              <a:t>서비스 개발자</a:t>
            </a:r>
          </a:p>
        </p:txBody>
      </p:sp>
      <p:sp>
        <p:nvSpPr>
          <p:cNvPr id="20" name="slide-timeline__item-body-2"/>
          <p:cNvSpPr txBox="1"/>
          <p:nvPr/>
        </p:nvSpPr>
        <p:spPr>
          <a:xfrm>
            <a:off x="3648075" y="4403378"/>
            <a:ext cx="21431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2014"/>
              </a:lnSpc>
            </a:pPr>
            <a:r>
              <a:rPr sz="1300" b="0" i="0" u="none">
                <a:solidFill>
                  <a:srgbClr val="D6D3D1"/>
                </a:solidFill>
                <a:latin typeface="Pretendard"/>
              </a:rPr>
              <a:t>사용자 여정 분석과 신규 기능 론칭을 맡았습니다.</a:t>
            </a:r>
          </a:p>
        </p:txBody>
      </p:sp>
      <p:pic>
        <p:nvPicPr>
          <p:cNvPr id="21" name="slide-timeline__dot-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875" y="3952875"/>
            <a:ext cx="133350" cy="133350"/>
          </a:xfrm>
          <a:prstGeom prst="rect">
            <a:avLst/>
          </a:prstGeom>
        </p:spPr>
      </p:pic>
      <p:sp>
        <p:nvSpPr>
          <p:cNvPr id="22" name="slide-timeline__date-3"/>
          <p:cNvSpPr txBox="1"/>
          <p:nvPr/>
        </p:nvSpPr>
        <p:spPr>
          <a:xfrm>
            <a:off x="6400800" y="3933825"/>
            <a:ext cx="2143125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i="0" u="none">
                <a:solidFill>
                  <a:srgbClr val="FDBA74"/>
                </a:solidFill>
                <a:latin typeface="Pretendard"/>
              </a:rPr>
              <a:t>2021.09 ~ 2022.02</a:t>
            </a:r>
          </a:p>
        </p:txBody>
      </p:sp>
      <p:sp>
        <p:nvSpPr>
          <p:cNvPr id="23" name="slide-timeline__item-title-3"/>
          <p:cNvSpPr txBox="1"/>
          <p:nvPr/>
        </p:nvSpPr>
        <p:spPr>
          <a:xfrm>
            <a:off x="6400800" y="4148138"/>
            <a:ext cx="21431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 i="0" u="none">
                <a:solidFill>
                  <a:srgbClr val="FFF7ED"/>
                </a:solidFill>
                <a:latin typeface="Pretendard"/>
              </a:rPr>
              <a:t>인턴</a:t>
            </a:r>
          </a:p>
        </p:txBody>
      </p:sp>
      <p:sp>
        <p:nvSpPr>
          <p:cNvPr id="24" name="slide-timeline__item-body-3"/>
          <p:cNvSpPr txBox="1"/>
          <p:nvPr/>
        </p:nvSpPr>
        <p:spPr>
          <a:xfrm>
            <a:off x="6400800" y="4403378"/>
            <a:ext cx="21431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14"/>
              </a:lnSpc>
            </a:pPr>
            <a:r>
              <a:rPr sz="1300" b="0" i="0" u="none">
                <a:solidFill>
                  <a:srgbClr val="D6D3D1"/>
                </a:solidFill>
                <a:latin typeface="Pretendard"/>
              </a:rPr>
              <a:t>실험용 랜딩 페이지와 내부 툴을 제작했습니다.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C1917"/>
            </a:gs>
            <a:gs pos="100000">
              <a:srgbClr val="292524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slide-agenda__back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-main"/>
          <p:cNvSpPr txBox="1"/>
          <p:nvPr/>
        </p:nvSpPr>
        <p:spPr>
          <a:xfrm>
            <a:off x="1714500" y="1881188"/>
            <a:ext cx="8763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sz="3000" b="0" i="0" u="none">
                <a:solidFill>
                  <a:srgbClr val="FAFAF9"/>
                </a:solidFill>
                <a:latin typeface="Pretendard"/>
              </a:rPr>
              <a:t>목차 제목</a:t>
            </a:r>
          </a:p>
        </p:txBody>
      </p:sp>
      <p:sp>
        <p:nvSpPr>
          <p:cNvPr id="4" name="slide-agenda__agenda-item"/>
          <p:cNvSpPr/>
          <p:nvPr/>
        </p:nvSpPr>
        <p:spPr>
          <a:xfrm>
            <a:off x="1714500" y="2576512"/>
            <a:ext cx="8763000" cy="723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9550" rIns="209550" tIns="152400" bIns="1524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01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첫 번째 섹션</a:t>
            </a:r>
          </a:p>
        </p:txBody>
      </p:sp>
      <p:pic>
        <p:nvPicPr>
          <p:cNvPr id="5" name="agenda-item-panel-0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2576512"/>
            <a:ext cx="8763000" cy="723900"/>
          </a:xfrm>
          <a:prstGeom prst="rect">
            <a:avLst/>
          </a:prstGeom>
        </p:spPr>
      </p:pic>
      <p:sp>
        <p:nvSpPr>
          <p:cNvPr id="6" name="slide-agenda__agenda-item-2"/>
          <p:cNvSpPr/>
          <p:nvPr/>
        </p:nvSpPr>
        <p:spPr>
          <a:xfrm>
            <a:off x="1714500" y="3414712"/>
            <a:ext cx="8763000" cy="723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9550" rIns="209550" tIns="152400" bIns="1524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02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두 번째 섹션</a:t>
            </a:r>
          </a:p>
        </p:txBody>
      </p:sp>
      <p:pic>
        <p:nvPicPr>
          <p:cNvPr id="7" name="agenda-item-panel-0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3414712"/>
            <a:ext cx="8763000" cy="723900"/>
          </a:xfrm>
          <a:prstGeom prst="rect">
            <a:avLst/>
          </a:prstGeom>
        </p:spPr>
      </p:pic>
      <p:sp>
        <p:nvSpPr>
          <p:cNvPr id="8" name="slide-agenda__agenda-item-3"/>
          <p:cNvSpPr/>
          <p:nvPr/>
        </p:nvSpPr>
        <p:spPr>
          <a:xfrm>
            <a:off x="1714500" y="4252912"/>
            <a:ext cx="8763000" cy="723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9550" rIns="209550" tIns="152400" bIns="1524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03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세 번째 섹션</a:t>
            </a:r>
          </a:p>
        </p:txBody>
      </p:sp>
      <p:pic>
        <p:nvPicPr>
          <p:cNvPr id="9" name="agenda-item-panel-0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0" y="4252912"/>
            <a:ext cx="8763000" cy="723900"/>
          </a:xfrm>
          <a:prstGeom prst="rect">
            <a:avLst/>
          </a:prstGeom>
        </p:spPr>
      </p:pic>
      <p:pic>
        <p:nvPicPr>
          <p:cNvPr id="10" name="agenda-item-marker-0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4050" y="2728912"/>
            <a:ext cx="419100" cy="419100"/>
          </a:xfrm>
          <a:prstGeom prst="rect">
            <a:avLst/>
          </a:prstGeom>
        </p:spPr>
      </p:pic>
      <p:sp>
        <p:nvSpPr>
          <p:cNvPr id="11" name="agenda-item-text-01"/>
          <p:cNvSpPr txBox="1"/>
          <p:nvPr/>
        </p:nvSpPr>
        <p:spPr>
          <a:xfrm>
            <a:off x="2514600" y="2817019"/>
            <a:ext cx="385762" cy="242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sz="1700" b="0" i="0" u="none">
                <a:solidFill>
                  <a:srgbClr val="E7E5E4"/>
                </a:solidFill>
                <a:latin typeface="Pretendard"/>
              </a:rPr>
              <a:t>첫 번째 섹션</a:t>
            </a:r>
          </a:p>
        </p:txBody>
      </p:sp>
      <p:pic>
        <p:nvPicPr>
          <p:cNvPr id="12" name="agenda-item-marker-0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4050" y="3567112"/>
            <a:ext cx="419100" cy="419100"/>
          </a:xfrm>
          <a:prstGeom prst="rect">
            <a:avLst/>
          </a:prstGeom>
        </p:spPr>
      </p:pic>
      <p:sp>
        <p:nvSpPr>
          <p:cNvPr id="13" name="agenda-item-text-02"/>
          <p:cNvSpPr txBox="1"/>
          <p:nvPr/>
        </p:nvSpPr>
        <p:spPr>
          <a:xfrm>
            <a:off x="2514600" y="3655219"/>
            <a:ext cx="385762" cy="242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sz="1700" b="0" i="0" u="none">
                <a:solidFill>
                  <a:srgbClr val="E7E5E4"/>
                </a:solidFill>
                <a:latin typeface="Pretendard"/>
              </a:rPr>
              <a:t>두 번째 섹션</a:t>
            </a:r>
          </a:p>
        </p:txBody>
      </p:sp>
      <p:pic>
        <p:nvPicPr>
          <p:cNvPr id="14" name="agenda-item-marker-0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4050" y="4405312"/>
            <a:ext cx="419100" cy="419100"/>
          </a:xfrm>
          <a:prstGeom prst="rect">
            <a:avLst/>
          </a:prstGeom>
        </p:spPr>
      </p:pic>
      <p:sp>
        <p:nvSpPr>
          <p:cNvPr id="15" name="agenda-item-text-03"/>
          <p:cNvSpPr txBox="1"/>
          <p:nvPr/>
        </p:nvSpPr>
        <p:spPr>
          <a:xfrm>
            <a:off x="2514600" y="4493419"/>
            <a:ext cx="385762" cy="242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50"/>
              </a:lnSpc>
            </a:pPr>
            <a:r>
              <a:rPr sz="1700" b="0" i="0" u="none">
                <a:solidFill>
                  <a:srgbClr val="E7E5E4"/>
                </a:solidFill>
                <a:latin typeface="Pretendard"/>
              </a:rPr>
              <a:t>세 번째 섹션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lide-project_card__shap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063823"/>
          </a:xfrm>
          <a:prstGeom prst="rect">
            <a:avLst/>
          </a:prstGeom>
        </p:spPr>
      </p:pic>
      <p:sp>
        <p:nvSpPr>
          <p:cNvPr id="3" name="slide-project_card__shape-2"/>
          <p:cNvSpPr/>
          <p:nvPr/>
        </p:nvSpPr>
        <p:spPr>
          <a:xfrm>
            <a:off x="0" y="1063823"/>
            <a:ext cx="12192000" cy="638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-project_card__shape-3"/>
          <p:cNvSpPr/>
          <p:nvPr/>
        </p:nvSpPr>
        <p:spPr>
          <a:xfrm>
            <a:off x="0" y="1701998"/>
            <a:ext cx="12192000" cy="5156002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e-project_card__tech-stack"/>
          <p:cNvSpPr/>
          <p:nvPr/>
        </p:nvSpPr>
        <p:spPr>
          <a:xfrm>
            <a:off x="457200" y="2410569"/>
            <a:ext cx="5543550" cy="285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Python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FastAPI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React</a:t>
            </a:r>
          </a:p>
        </p:txBody>
      </p:sp>
      <p:sp>
        <p:nvSpPr>
          <p:cNvPr id="6" name="slide-project_card__tech-chip"/>
          <p:cNvSpPr/>
          <p:nvPr/>
        </p:nvSpPr>
        <p:spPr>
          <a:xfrm>
            <a:off x="457200" y="2410569"/>
            <a:ext cx="616000" cy="285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Python</a:t>
            </a:r>
          </a:p>
        </p:txBody>
      </p:sp>
      <p:sp>
        <p:nvSpPr>
          <p:cNvPr id="7" name="slide-project_card__shape-4"/>
          <p:cNvSpPr/>
          <p:nvPr/>
        </p:nvSpPr>
        <p:spPr>
          <a:xfrm>
            <a:off x="457200" y="2410569"/>
            <a:ext cx="616000" cy="285750"/>
          </a:xfrm>
          <a:prstGeom prst="roundRect">
            <a:avLst/>
          </a:prstGeom>
          <a:solidFill>
            <a:srgbClr val="F97316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lide-project_card__tech-chip-2"/>
          <p:cNvSpPr/>
          <p:nvPr/>
        </p:nvSpPr>
        <p:spPr>
          <a:xfrm>
            <a:off x="1149400" y="2410569"/>
            <a:ext cx="654248" cy="285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FastAPI</a:t>
            </a:r>
          </a:p>
        </p:txBody>
      </p:sp>
      <p:sp>
        <p:nvSpPr>
          <p:cNvPr id="9" name="slide-project_card__shape-5"/>
          <p:cNvSpPr/>
          <p:nvPr/>
        </p:nvSpPr>
        <p:spPr>
          <a:xfrm>
            <a:off x="1149400" y="2410569"/>
            <a:ext cx="654248" cy="285750"/>
          </a:xfrm>
          <a:prstGeom prst="roundRect">
            <a:avLst/>
          </a:prstGeom>
          <a:solidFill>
            <a:srgbClr val="F97316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lide-project_card__tech-chip-3"/>
          <p:cNvSpPr/>
          <p:nvPr/>
        </p:nvSpPr>
        <p:spPr>
          <a:xfrm>
            <a:off x="1879848" y="2410569"/>
            <a:ext cx="539948" cy="2857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React</a:t>
            </a:r>
          </a:p>
        </p:txBody>
      </p:sp>
      <p:sp>
        <p:nvSpPr>
          <p:cNvPr id="11" name="slide-project_card__shape-6"/>
          <p:cNvSpPr/>
          <p:nvPr/>
        </p:nvSpPr>
        <p:spPr>
          <a:xfrm>
            <a:off x="1879848" y="2410569"/>
            <a:ext cx="539948" cy="285750"/>
          </a:xfrm>
          <a:prstGeom prst="roundRect">
            <a:avLst/>
          </a:prstGeom>
          <a:solidFill>
            <a:srgbClr val="F97316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lide-project_card__highlights"/>
          <p:cNvSpPr/>
          <p:nvPr/>
        </p:nvSpPr>
        <p:spPr>
          <a:xfrm>
            <a:off x="6191250" y="2410569"/>
            <a:ext cx="5543550" cy="13239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1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3</a:t>
            </a:r>
          </a:p>
        </p:txBody>
      </p:sp>
      <p:sp>
        <p:nvSpPr>
          <p:cNvPr id="13" name="slide-project_card__highlight-card"/>
          <p:cNvSpPr/>
          <p:nvPr/>
        </p:nvSpPr>
        <p:spPr>
          <a:xfrm>
            <a:off x="6191250" y="2410569"/>
            <a:ext cx="5543550" cy="390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3350" rIns="133350" tIns="95250" bIns="952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1</a:t>
            </a:r>
          </a:p>
        </p:txBody>
      </p:sp>
      <p:sp>
        <p:nvSpPr>
          <p:cNvPr id="14" name="slide-project_card__shape-7"/>
          <p:cNvSpPr/>
          <p:nvPr/>
        </p:nvSpPr>
        <p:spPr>
          <a:xfrm>
            <a:off x="6191250" y="2410569"/>
            <a:ext cx="5543550" cy="390525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lide-project_card__highlight-card-2"/>
          <p:cNvSpPr/>
          <p:nvPr/>
        </p:nvSpPr>
        <p:spPr>
          <a:xfrm>
            <a:off x="6191250" y="2877294"/>
            <a:ext cx="5543550" cy="390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3350" rIns="133350" tIns="95250" bIns="952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2</a:t>
            </a:r>
          </a:p>
        </p:txBody>
      </p:sp>
      <p:sp>
        <p:nvSpPr>
          <p:cNvPr id="16" name="slide-project_card__shape-8"/>
          <p:cNvSpPr/>
          <p:nvPr/>
        </p:nvSpPr>
        <p:spPr>
          <a:xfrm>
            <a:off x="6191250" y="2877294"/>
            <a:ext cx="5543550" cy="390525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lide-project_card__highlight-card-3"/>
          <p:cNvSpPr/>
          <p:nvPr/>
        </p:nvSpPr>
        <p:spPr>
          <a:xfrm>
            <a:off x="6191250" y="3344019"/>
            <a:ext cx="5543550" cy="390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3350" rIns="133350" tIns="95250" bIns="952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3</a:t>
            </a:r>
          </a:p>
        </p:txBody>
      </p:sp>
      <p:sp>
        <p:nvSpPr>
          <p:cNvPr id="18" name="slide-project_card__shape-9"/>
          <p:cNvSpPr/>
          <p:nvPr/>
        </p:nvSpPr>
        <p:spPr>
          <a:xfrm>
            <a:off x="6191250" y="3344019"/>
            <a:ext cx="5543550" cy="390525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oject-name-main"/>
          <p:cNvSpPr txBox="1"/>
          <p:nvPr/>
        </p:nvSpPr>
        <p:spPr>
          <a:xfrm>
            <a:off x="457200" y="342900"/>
            <a:ext cx="11277600" cy="416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sz="3800" b="0" i="0" u="none">
                <a:solidFill>
                  <a:srgbClr val="FFFBEB"/>
                </a:solidFill>
                <a:latin typeface="Pretendard"/>
              </a:rPr>
              <a:t>프로젝트 이름</a:t>
            </a:r>
          </a:p>
        </p:txBody>
      </p:sp>
      <p:sp>
        <p:nvSpPr>
          <p:cNvPr id="20" name="role-main"/>
          <p:cNvSpPr txBox="1"/>
          <p:nvPr/>
        </p:nvSpPr>
        <p:spPr>
          <a:xfrm>
            <a:off x="457200" y="1197173"/>
            <a:ext cx="11277600" cy="1857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FDBA74"/>
                </a:solidFill>
                <a:latin typeface="Pretendard"/>
              </a:rPr>
              <a:t>역할</a:t>
            </a:r>
          </a:p>
        </p:txBody>
      </p:sp>
      <p:sp>
        <p:nvSpPr>
          <p:cNvPr id="21" name="period-main"/>
          <p:cNvSpPr txBox="1"/>
          <p:nvPr/>
        </p:nvSpPr>
        <p:spPr>
          <a:xfrm>
            <a:off x="457200" y="1382911"/>
            <a:ext cx="11277600" cy="1857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D6D3D1"/>
                </a:solidFill>
                <a:latin typeface="Pretendard"/>
              </a:rPr>
              <a:t>기간</a:t>
            </a:r>
          </a:p>
        </p:txBody>
      </p:sp>
      <p:sp>
        <p:nvSpPr>
          <p:cNvPr id="22" name="summary-main"/>
          <p:cNvSpPr txBox="1"/>
          <p:nvPr/>
        </p:nvSpPr>
        <p:spPr>
          <a:xfrm>
            <a:off x="457200" y="1968698"/>
            <a:ext cx="11277600" cy="251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00" b="0" i="0" u="none">
                <a:solidFill>
                  <a:srgbClr val="E7E5E4"/>
                </a:solidFill>
                <a:latin typeface="Pretendard"/>
              </a:rPr>
              <a:t>프로젝트에 대한 간략한 설명이 들어갑니다. 무엇을 만들었고, 어떤 문제를 해결했는지 서술합니다.</a:t>
            </a:r>
          </a:p>
        </p:txBody>
      </p:sp>
      <p:sp>
        <p:nvSpPr>
          <p:cNvPr id="23" name="slide-project_card__chip-text"/>
          <p:cNvSpPr txBox="1"/>
          <p:nvPr/>
        </p:nvSpPr>
        <p:spPr>
          <a:xfrm>
            <a:off x="457200" y="2410569"/>
            <a:ext cx="616000" cy="285750"/>
          </a:xfrm>
          <a:prstGeom prst="rect">
            <a:avLst/>
          </a:prstGeom>
          <a:noFill/>
        </p:spPr>
        <p:txBody>
          <a:bodyPr wrap="square" lIns="114300" rIns="114300" tIns="57150" bIns="5715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EDD5"/>
                </a:solidFill>
                <a:latin typeface="Pretendard"/>
              </a:rPr>
              <a:t>Python</a:t>
            </a:r>
          </a:p>
        </p:txBody>
      </p:sp>
      <p:sp>
        <p:nvSpPr>
          <p:cNvPr id="24" name="slide-project_card__chip-text-2"/>
          <p:cNvSpPr txBox="1"/>
          <p:nvPr/>
        </p:nvSpPr>
        <p:spPr>
          <a:xfrm>
            <a:off x="1149400" y="2410569"/>
            <a:ext cx="654248" cy="285750"/>
          </a:xfrm>
          <a:prstGeom prst="rect">
            <a:avLst/>
          </a:prstGeom>
          <a:noFill/>
        </p:spPr>
        <p:txBody>
          <a:bodyPr wrap="square" lIns="114300" rIns="114300" tIns="57150" bIns="5715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EDD5"/>
                </a:solidFill>
                <a:latin typeface="Pretendard"/>
              </a:rPr>
              <a:t>FastAPI</a:t>
            </a:r>
          </a:p>
        </p:txBody>
      </p:sp>
      <p:sp>
        <p:nvSpPr>
          <p:cNvPr id="25" name="slide-project_card__chip-text-3"/>
          <p:cNvSpPr txBox="1"/>
          <p:nvPr/>
        </p:nvSpPr>
        <p:spPr>
          <a:xfrm>
            <a:off x="1879848" y="2410569"/>
            <a:ext cx="539948" cy="285750"/>
          </a:xfrm>
          <a:prstGeom prst="rect">
            <a:avLst/>
          </a:prstGeom>
          <a:noFill/>
        </p:spPr>
        <p:txBody>
          <a:bodyPr wrap="square" lIns="114300" rIns="114300" tIns="57150" bIns="5715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EDD5"/>
                </a:solidFill>
                <a:latin typeface="Pretendard"/>
              </a:rPr>
              <a:t>React</a:t>
            </a:r>
          </a:p>
        </p:txBody>
      </p:sp>
      <p:sp>
        <p:nvSpPr>
          <p:cNvPr id="26" name="slide-project_card__highlight-text"/>
          <p:cNvSpPr txBox="1"/>
          <p:nvPr/>
        </p:nvSpPr>
        <p:spPr>
          <a:xfrm>
            <a:off x="6324600" y="2505819"/>
            <a:ext cx="52768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D6D3D1"/>
                </a:solidFill>
                <a:latin typeface="Pretendard"/>
              </a:rPr>
              <a:t>주요 성과 1</a:t>
            </a:r>
          </a:p>
        </p:txBody>
      </p:sp>
      <p:sp>
        <p:nvSpPr>
          <p:cNvPr id="27" name="slide-project_card__highlight-text-2"/>
          <p:cNvSpPr txBox="1"/>
          <p:nvPr/>
        </p:nvSpPr>
        <p:spPr>
          <a:xfrm>
            <a:off x="6324600" y="2972544"/>
            <a:ext cx="52768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D6D3D1"/>
                </a:solidFill>
                <a:latin typeface="Pretendard"/>
              </a:rPr>
              <a:t>주요 성과 2</a:t>
            </a:r>
          </a:p>
        </p:txBody>
      </p:sp>
      <p:sp>
        <p:nvSpPr>
          <p:cNvPr id="28" name="slide-project_card__highlight-text-3"/>
          <p:cNvSpPr txBox="1"/>
          <p:nvPr/>
        </p:nvSpPr>
        <p:spPr>
          <a:xfrm>
            <a:off x="6324600" y="3439269"/>
            <a:ext cx="52768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D6D3D1"/>
                </a:solidFill>
                <a:latin typeface="Pretendard"/>
              </a:rPr>
              <a:t>주요 성과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C1917"/>
            </a:gs>
            <a:gs pos="100000">
              <a:srgbClr val="292524"/>
            </a:gs>
          </a:gsLst>
          <a:lin scaled="0" ang="12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-main"/>
          <p:cNvSpPr txBox="1"/>
          <p:nvPr/>
        </p:nvSpPr>
        <p:spPr>
          <a:xfrm>
            <a:off x="533400" y="457200"/>
            <a:ext cx="11125200" cy="4113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0" i="0" u="none">
                <a:solidFill>
                  <a:srgbClr val="FAFAF9"/>
                </a:solidFill>
                <a:latin typeface="Pretendard"/>
              </a:rPr>
              <a:t>핵심 지표</a:t>
            </a:r>
          </a:p>
        </p:txBody>
      </p:sp>
      <p:sp>
        <p:nvSpPr>
          <p:cNvPr id="3" name="subtitle-main"/>
          <p:cNvSpPr txBox="1"/>
          <p:nvPr/>
        </p:nvSpPr>
        <p:spPr>
          <a:xfrm>
            <a:off x="533400" y="944761"/>
            <a:ext cx="876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 i="0" u="none">
                <a:solidFill>
                  <a:srgbClr val="A8A29E"/>
                </a:solidFill>
                <a:latin typeface="Pretendard"/>
              </a:rPr>
              <a:t>
            포트폴리오에서 추출한 수치·비교 요약
        </a:t>
            </a:r>
          </a:p>
        </p:txBody>
      </p:sp>
      <p:pic>
        <p:nvPicPr>
          <p:cNvPr id="4" name="metrics-panel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01961"/>
            <a:ext cx="11125200" cy="4673203"/>
          </a:xfrm>
          <a:prstGeom prst="rect">
            <a:avLst/>
          </a:prstGeom>
        </p:spPr>
      </p:pic>
      <p:sp>
        <p:nvSpPr>
          <p:cNvPr id="5" name="footnote-main"/>
          <p:cNvSpPr txBox="1"/>
          <p:nvPr/>
        </p:nvSpPr>
        <p:spPr>
          <a:xfrm>
            <a:off x="533400" y="6303764"/>
            <a:ext cx="11125200" cy="173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0" i="0" u="none">
                <a:solidFill>
                  <a:srgbClr val="A8A29E"/>
                </a:solidFill>
                <a:latin typeface="Pretendard"/>
              </a:rPr>
              <a:t>
        기준일·출처 등 짧은 주석
    </a:t>
            </a:r>
          </a:p>
        </p:txBody>
      </p:sp>
      <p:pic>
        <p:nvPicPr>
          <p:cNvPr id="6" name="table-main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01961"/>
            <a:ext cx="11125200" cy="46732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A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main"/>
          <p:cNvSpPr txBox="1"/>
          <p:nvPr/>
        </p:nvSpPr>
        <p:spPr>
          <a:xfrm>
            <a:off x="495300" y="419100"/>
            <a:ext cx="11201400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sz="3400" b="0" i="0" u="none">
                <a:solidFill>
                  <a:srgbClr val="FAFAF9"/>
                </a:solidFill>
                <a:latin typeface="Pretendard"/>
              </a:rPr>
              <a:t>비율 시각화</a:t>
            </a:r>
          </a:p>
        </p:txBody>
      </p:sp>
      <p:sp>
        <p:nvSpPr>
          <p:cNvPr id="3" name="subtitle-main"/>
          <p:cNvSpPr txBox="1"/>
          <p:nvPr/>
        </p:nvSpPr>
        <p:spPr>
          <a:xfrm>
            <a:off x="495300" y="864840"/>
            <a:ext cx="7620000" cy="207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A8A29E"/>
                </a:solidFill>
                <a:latin typeface="Pretendard"/>
              </a:rPr>
              <a:t>
            항목별 상대 크기 (최댓값 기준 100%)
        </a:t>
            </a:r>
          </a:p>
        </p:txBody>
      </p:sp>
      <p:pic>
        <p:nvPicPr>
          <p:cNvPr id="4" name="bar-panel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62509"/>
            <a:ext cx="9144000" cy="4888855"/>
          </a:xfrm>
          <a:prstGeom prst="rect">
            <a:avLst/>
          </a:prstGeom>
        </p:spPr>
      </p:pic>
      <p:sp>
        <p:nvSpPr>
          <p:cNvPr id="5" name="footnote-main"/>
          <p:cNvSpPr txBox="1"/>
          <p:nvPr/>
        </p:nvSpPr>
        <p:spPr>
          <a:xfrm>
            <a:off x="495300" y="6341864"/>
            <a:ext cx="11201400" cy="173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0" i="0" u="none">
                <a:solidFill>
                  <a:srgbClr val="A8A29E"/>
                </a:solidFill>
                <a:latin typeface="Pretendard"/>
              </a:rPr>
              <a:t>
        기준·단위 설명
    </a:t>
            </a:r>
          </a:p>
        </p:txBody>
      </p:sp>
      <p:graphicFrame>
        <p:nvGraphicFramePr>
          <p:cNvPr id="6" name="chart-main"/>
          <p:cNvGraphicFramePr>
            <a:graphicFrameLocks noGrp="1"/>
          </p:cNvGraphicFramePr>
          <p:nvPr/>
        </p:nvGraphicFramePr>
        <p:xfrm>
          <a:off x="1524000" y="1992362"/>
          <a:ext cx="914400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C1917"/>
            </a:gs>
            <a:gs pos="100000">
              <a:srgbClr val="0C0A09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-main"/>
          <p:cNvSpPr txBox="1"/>
          <p:nvPr/>
        </p:nvSpPr>
        <p:spPr>
          <a:xfrm>
            <a:off x="419100" y="342900"/>
            <a:ext cx="1135380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2600" b="0" i="0" u="none">
                <a:solidFill>
                  <a:srgbClr val="FAFAF9"/>
                </a:solidFill>
                <a:latin typeface="Pretendard"/>
              </a:rPr>
              <a:t>섹션 제목</a:t>
            </a:r>
          </a:p>
        </p:txBody>
      </p:sp>
      <p:pic>
        <p:nvPicPr>
          <p:cNvPr id="3" name="tc-left-panel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904875"/>
            <a:ext cx="5591175" cy="5238750"/>
          </a:xfrm>
          <a:prstGeom prst="rect">
            <a:avLst/>
          </a:prstGeom>
        </p:spPr>
      </p:pic>
      <p:sp>
        <p:nvSpPr>
          <p:cNvPr id="4" name="tc-right-panel"/>
          <p:cNvSpPr/>
          <p:nvPr/>
        </p:nvSpPr>
        <p:spPr>
          <a:xfrm>
            <a:off x="6181725" y="904875"/>
            <a:ext cx="5591175" cy="5238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note-main"/>
          <p:cNvSpPr txBox="1"/>
          <p:nvPr/>
        </p:nvSpPr>
        <p:spPr>
          <a:xfrm>
            <a:off x="419100" y="6419850"/>
            <a:ext cx="113538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A8A29E"/>
                </a:solidFill>
                <a:latin typeface="Pretendard"/>
              </a:rPr>
              <a:t>추가 참고 사항</a:t>
            </a:r>
          </a:p>
        </p:txBody>
      </p:sp>
      <p:sp>
        <p:nvSpPr>
          <p:cNvPr id="6" name="left-main"/>
          <p:cNvSpPr txBox="1"/>
          <p:nvPr/>
        </p:nvSpPr>
        <p:spPr>
          <a:xfrm>
            <a:off x="419100" y="904875"/>
            <a:ext cx="5591175" cy="1004888"/>
          </a:xfrm>
          <a:prstGeom prst="rect">
            <a:avLst/>
          </a:prstGeom>
          <a:noFill/>
        </p:spPr>
        <p:txBody>
          <a:bodyPr wrap="square" lIns="190500" rIns="190500" tIns="209550" bIns="209550" anchor="t">
            <a:spAutoFit/>
          </a:bodyPr>
          <a:lstStyle/>
          <a:p>
            <a:pPr algn="l">
              <a:lnSpc>
                <a:spcPts val="2475"/>
              </a:lnSpc>
              <a:spcAft>
                <a:spcPts val="1200"/>
              </a:spcAft>
            </a:pPr>
            <a:r>
              <a:rPr sz="1500" b="0" i="0" u="none">
                <a:solidFill>
                  <a:srgbClr val="E7E5E4"/>
                </a:solidFill>
                <a:latin typeface="Pretendard"/>
              </a:rPr>
              <a:t>좌측 카드에는 프로젝트 배경, 문제 정의, 사용자의 맥락을 요약합니다.</a:t>
            </a:r>
          </a:p>
          <a:p>
            <a:pPr algn="l">
              <a:lnSpc>
                <a:spcPts val="2475"/>
              </a:lnSpc>
              <a:spcAft>
                <a:spcPts val="1200"/>
              </a:spcAft>
            </a:pPr>
            <a:r>
              <a:rPr sz="1500" b="0" i="0" u="none">
                <a:solidFill>
                  <a:srgbClr val="E7E5E4"/>
                </a:solidFill>
                <a:latin typeface="Pretendard"/>
              </a:rPr>
              <a:t>왜 이 접근을 택했는지 짧고 강하게 적습니다.</a:t>
            </a:r>
          </a:p>
        </p:txBody>
      </p:sp>
      <p:sp>
        <p:nvSpPr>
          <p:cNvPr id="7" name="right-main"/>
          <p:cNvSpPr txBox="1"/>
          <p:nvPr/>
        </p:nvSpPr>
        <p:spPr>
          <a:xfrm>
            <a:off x="6181725" y="904875"/>
            <a:ext cx="5591175" cy="1004888"/>
          </a:xfrm>
          <a:prstGeom prst="rect">
            <a:avLst/>
          </a:prstGeom>
          <a:noFill/>
        </p:spPr>
        <p:txBody>
          <a:bodyPr wrap="square" lIns="190500" rIns="190500" tIns="209550" bIns="209550" anchor="t">
            <a:spAutoFit/>
          </a:bodyPr>
          <a:lstStyle/>
          <a:p>
            <a:pPr algn="l">
              <a:lnSpc>
                <a:spcPts val="2475"/>
              </a:lnSpc>
              <a:spcAft>
                <a:spcPts val="1200"/>
              </a:spcAft>
            </a:pPr>
            <a:r>
              <a:rPr sz="1500" b="0" i="0" u="none">
                <a:solidFill>
                  <a:srgbClr val="E7E5E4"/>
                </a:solidFill>
                <a:latin typeface="Pretendard"/>
              </a:rPr>
              <a:t>우측 카드에는 구현 포인트, 성과, 배운 점을 정리합니다.</a:t>
            </a:r>
          </a:p>
          <a:p>
            <a:pPr algn="l">
              <a:lnSpc>
                <a:spcPts val="2475"/>
              </a:lnSpc>
              <a:spcAft>
                <a:spcPts val="1200"/>
              </a:spcAft>
            </a:pPr>
            <a:r>
              <a:rPr sz="1500" b="0" i="0" u="none">
                <a:solidFill>
                  <a:srgbClr val="E7E5E4"/>
                </a:solidFill>
                <a:latin typeface="Pretendard"/>
              </a:rPr>
              <a:t>숫자나 KPI가 있다면 한 문단으로 강조합니다.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C1917"/>
            </a:gs>
            <a:gs pos="100000">
              <a:srgbClr val="1C1917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closing-coral-energy__back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losing-coral-energy__panel"/>
          <p:cNvSpPr/>
          <p:nvPr/>
        </p:nvSpPr>
        <p:spPr>
          <a:xfrm>
            <a:off x="876300" y="685800"/>
            <a:ext cx="10439400" cy="5486400"/>
          </a:xfrm>
          <a:prstGeom prst="roundRect">
            <a:avLst/>
          </a:prstGeom>
          <a:solidFill>
            <a:srgbClr val="1C1917"/>
          </a:solidFill>
          <a:ln w="9525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losing-coral-energy__accen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1047750"/>
            <a:ext cx="76200" cy="4762500"/>
          </a:xfrm>
          <a:prstGeom prst="rect">
            <a:avLst/>
          </a:prstGeom>
        </p:spPr>
      </p:pic>
      <p:sp>
        <p:nvSpPr>
          <p:cNvPr id="5" name="message-main"/>
          <p:cNvSpPr txBox="1"/>
          <p:nvPr/>
        </p:nvSpPr>
        <p:spPr>
          <a:xfrm>
            <a:off x="5470327" y="2501950"/>
            <a:ext cx="894159" cy="613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40"/>
              </a:lnSpc>
            </a:pPr>
            <a:r>
              <a:rPr sz="5600" b="0" i="0" u="none">
                <a:solidFill>
                  <a:srgbClr val="FAFAF9"/>
                </a:solidFill>
                <a:latin typeface="Pretendard"/>
              </a:rPr>
              <a:t>감사합니다</a:t>
            </a:r>
          </a:p>
        </p:txBody>
      </p:sp>
      <p:sp>
        <p:nvSpPr>
          <p:cNvPr id="6" name="subtitle-main"/>
          <p:cNvSpPr txBox="1"/>
          <p:nvPr/>
        </p:nvSpPr>
        <p:spPr>
          <a:xfrm>
            <a:off x="5470327" y="3286720"/>
            <a:ext cx="125536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sz="2000" b="0" i="0" u="none">
                <a:solidFill>
                  <a:srgbClr val="A8A29E"/>
                </a:solidFill>
                <a:latin typeface="Pretendard"/>
              </a:rPr>
              <a:t>함께 일할 기회를 기다리고 있습니다</a:t>
            </a:r>
          </a:p>
        </p:txBody>
      </p:sp>
      <p:sp>
        <p:nvSpPr>
          <p:cNvPr id="7" name="contact-main"/>
          <p:cNvSpPr txBox="1"/>
          <p:nvPr/>
        </p:nvSpPr>
        <p:spPr>
          <a:xfrm>
            <a:off x="5470327" y="3915370"/>
            <a:ext cx="1899047" cy="440531"/>
          </a:xfrm>
          <a:prstGeom prst="rect">
            <a:avLst/>
          </a:prstGeom>
          <a:noFill/>
        </p:spPr>
        <p:txBody>
          <a:bodyPr wrap="square" lIns="247650" rIns="247650" tIns="114300" bIns="11430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500" b="0" i="0" u="none">
                <a:solidFill>
                  <a:srgbClr val="FB7185"/>
                </a:solidFill>
                <a:latin typeface="Pretendard"/>
              </a:rPr>
              <a:t>email@example.com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431407"/>
            </a:gs>
            <a:gs pos="100000">
              <a:srgbClr val="292524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quote-coral-energy__back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uote-coral-energy__panel"/>
          <p:cNvSpPr/>
          <p:nvPr/>
        </p:nvSpPr>
        <p:spPr>
          <a:xfrm>
            <a:off x="1066800" y="876300"/>
            <a:ext cx="10058400" cy="5105400"/>
          </a:xfrm>
          <a:prstGeom prst="roundRect">
            <a:avLst/>
          </a:prstGeom>
          <a:solidFill>
            <a:srgbClr val="1C1917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uote-coral-energy__ru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0" y="1276350"/>
            <a:ext cx="57150" cy="4286250"/>
          </a:xfrm>
          <a:prstGeom prst="rect">
            <a:avLst/>
          </a:prstGeom>
        </p:spPr>
      </p:pic>
      <p:sp>
        <p:nvSpPr>
          <p:cNvPr id="5" name="title-main"/>
          <p:cNvSpPr txBox="1"/>
          <p:nvPr/>
        </p:nvSpPr>
        <p:spPr>
          <a:xfrm>
            <a:off x="4832300" y="2811066"/>
            <a:ext cx="438894" cy="1361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300" b="0" i="0" u="none">
                <a:solidFill>
                  <a:srgbClr val="FB923C"/>
                </a:solidFill>
                <a:latin typeface="Pretendard"/>
              </a:rPr>
              <a:t>핵심 메시지</a:t>
            </a:r>
          </a:p>
        </p:txBody>
      </p:sp>
      <p:sp>
        <p:nvSpPr>
          <p:cNvPr id="6" name="quote-main"/>
          <p:cNvSpPr txBox="1"/>
          <p:nvPr/>
        </p:nvSpPr>
        <p:spPr>
          <a:xfrm>
            <a:off x="4832300" y="3118693"/>
            <a:ext cx="3232100" cy="4597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28"/>
              </a:lnSpc>
            </a:pPr>
            <a:r>
              <a:rPr sz="3400" b="0" i="0" u="none">
                <a:solidFill>
                  <a:srgbClr val="FAFAF9"/>
                </a:solidFill>
                <a:latin typeface="Pretendard"/>
              </a:rPr>
              <a:t>미션과 가치를 한 줄로 전달하는 인용문이 들어갑니다.</a:t>
            </a:r>
          </a:p>
        </p:txBody>
      </p:sp>
      <p:sp>
        <p:nvSpPr>
          <p:cNvPr id="7" name="attribution-main"/>
          <p:cNvSpPr txBox="1"/>
          <p:nvPr/>
        </p:nvSpPr>
        <p:spPr>
          <a:xfrm>
            <a:off x="4832300" y="3826073"/>
            <a:ext cx="306139" cy="220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20"/>
              </a:lnSpc>
            </a:pPr>
            <a:r>
              <a:rPr sz="1600" b="0" i="0" u="none">
                <a:solidFill>
                  <a:srgbClr val="A8A29E"/>
                </a:solidFill>
                <a:latin typeface="Pretendard"/>
              </a:rPr>
              <a:t>— 출처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